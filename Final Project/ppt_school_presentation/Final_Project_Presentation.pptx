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Today we present a machine learning project focused on understanding marketplace dynamics through price prediction and product condition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The marketplace is complex because price and condition are shaped by many operational choices.
This matters for trust, search ranking, and understanding seller behavior.
We wanted not only to predict, but to understand how marketplaces actually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We worked with a real Mercado Libre dataset of about one hundred thousand listings.
It mixes structured fields with nested JSON, which makes it much closer to production data than a clean classroom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This dataset is not clean. It reflects real production complexity.
We had to handle skewed prices, thousands of categories, leakage risk, and multiple JSON-like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Most of the model performance came from feature engineering, not the raw data.
We created features such as listing_age_days, shipping signals, seller location, and warranty indicators, while removing leakage-prone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For regression we used ElasticNet.
We obtained an MAE around 1.07, RMSE around 1.39, and R squared around 0.36.
Price is difficult to predict because the dataset lacks richer product-level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We compared linear and non-linear models to understand the complexity of the task.
Random Forest performed best with about 82 percent accuracy, followed closely by Gradient Boosting.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Random Forest performs best across all metrics, especially in detecting used products.
Its ROC-AUC reached 0.91, and it also achieved the strongest precision-recall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The model is not detecting used directly - it is learning seller behavior.
Signals like low inventory, no warranty, and free listings tell us more about the seller profile than about the item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This is essentially a behavioral segmentation model.
On one side we see casual sellers with used items, low inventory, and free listings. On the other side we see professional sellers with new items and stronger operational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Our main conclusion is that tree models outperformed linear ones, feature engineering was the key lever, and behavioral patterns carried more information than product-specific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Our main limitations were the lack of NLP and richer product representations.
Future work could add text models, embeddings, and deeper seller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685800" y="731520"/>
            <a:ext cx="146304" cy="2331720"/>
          </a:xfrm>
          <a:prstGeom prst="rect">
            <a:avLst/>
          </a:prstGeom>
          <a:solidFill>
            <a:srgbClr val="E76F51"/>
          </a:solidFill>
          <a:ln w="12700">
            <a:solidFill>
              <a:srgbClr val="E76F51">
                <a:alpha val="0"/>
              </a:srgbClr>
            </a:solidFill>
            <a:prstDash val="solid"/>
          </a:ln>
        </p:spPr>
      </p:sp>
      <p:sp>
        <p:nvSpPr>
          <p:cNvPr id="5" name="Text 3"/>
          <p:cNvSpPr/>
          <p:nvPr/>
        </p:nvSpPr>
        <p:spPr>
          <a:xfrm>
            <a:off x="1051560" y="841248"/>
            <a:ext cx="6126480" cy="457200"/>
          </a:xfrm>
          <a:prstGeom prst="rect">
            <a:avLst/>
          </a:prstGeom>
          <a:noFill/>
          <a:ln/>
        </p:spPr>
        <p:txBody>
          <a:bodyPr wrap="square" lIns="0" tIns="0" rIns="0" bIns="0" rtlCol="0" anchor="ctr"/>
          <a:lstStyle/>
          <a:p>
            <a:pPr indent="0" marL="0">
              <a:buNone/>
            </a:pPr>
            <a:r>
              <a:rPr lang="en-US" sz="2700" b="1" dirty="0">
                <a:solidFill>
                  <a:srgbClr val="1B2A41"/>
                </a:solidFill>
                <a:latin typeface="Trebuchet MS" pitchFamily="34" charset="0"/>
                <a:ea typeface="Trebuchet MS" pitchFamily="34" charset="-122"/>
                <a:cs typeface="Trebuchet MS" pitchFamily="34" charset="-120"/>
              </a:rPr>
              <a:t>Marketplace Dynamics</a:t>
            </a:r>
            <a:endParaRPr lang="en-US" sz="2700" dirty="0"/>
          </a:p>
        </p:txBody>
      </p:sp>
      <p:sp>
        <p:nvSpPr>
          <p:cNvPr id="6" name="Text 4"/>
          <p:cNvSpPr/>
          <p:nvPr/>
        </p:nvSpPr>
        <p:spPr>
          <a:xfrm>
            <a:off x="1051560" y="1353312"/>
            <a:ext cx="6537960" cy="713232"/>
          </a:xfrm>
          <a:prstGeom prst="rect">
            <a:avLst/>
          </a:prstGeom>
          <a:noFill/>
          <a:ln/>
        </p:spPr>
        <p:txBody>
          <a:bodyPr wrap="square" lIns="0" tIns="0" rIns="0" bIns="0" rtlCol="0" anchor="ctr"/>
          <a:lstStyle/>
          <a:p>
            <a:pPr indent="0" marL="0">
              <a:buNone/>
            </a:pPr>
            <a:r>
              <a:rPr lang="en-US" sz="2100" b="1" dirty="0">
                <a:solidFill>
                  <a:srgbClr val="1F5C4D"/>
                </a:solidFill>
                <a:latin typeface="Trebuchet MS" pitchFamily="34" charset="0"/>
                <a:ea typeface="Trebuchet MS" pitchFamily="34" charset="-122"/>
                <a:cs typeface="Trebuchet MS" pitchFamily="34" charset="-120"/>
              </a:rPr>
              <a:t>Price Prediction and Product Condition Classification</a:t>
            </a:r>
            <a:endParaRPr lang="en-US" sz="2100" dirty="0"/>
          </a:p>
        </p:txBody>
      </p:sp>
      <p:sp>
        <p:nvSpPr>
          <p:cNvPr id="7" name="Text 5"/>
          <p:cNvSpPr/>
          <p:nvPr/>
        </p:nvSpPr>
        <p:spPr>
          <a:xfrm>
            <a:off x="1051560" y="2139696"/>
            <a:ext cx="5669280" cy="219456"/>
          </a:xfrm>
          <a:prstGeom prst="rect">
            <a:avLst/>
          </a:prstGeom>
          <a:noFill/>
          <a:ln/>
        </p:spPr>
        <p:txBody>
          <a:bodyPr wrap="square" lIns="0" tIns="0" rIns="0" bIns="0" rtlCol="0" anchor="ctr"/>
          <a:lstStyle/>
          <a:p>
            <a:pPr indent="0" marL="0">
              <a:buNone/>
            </a:pPr>
            <a:r>
              <a:rPr lang="en-US" sz="1400" i="1" dirty="0">
                <a:solidFill>
                  <a:srgbClr val="5C6770"/>
                </a:solidFill>
                <a:latin typeface="Georgia" pitchFamily="34" charset="0"/>
                <a:ea typeface="Georgia" pitchFamily="34" charset="-122"/>
                <a:cs typeface="Georgia" pitchFamily="34" charset="-120"/>
              </a:rPr>
              <a:t>Mercado Libre final project presentation</a:t>
            </a:r>
            <a:endParaRPr lang="en-US" sz="1400" dirty="0"/>
          </a:p>
        </p:txBody>
      </p:sp>
      <p:sp>
        <p:nvSpPr>
          <p:cNvPr id="8" name="Shape 6"/>
          <p:cNvSpPr/>
          <p:nvPr/>
        </p:nvSpPr>
        <p:spPr>
          <a:xfrm>
            <a:off x="8046720" y="868680"/>
            <a:ext cx="1508760" cy="1005840"/>
          </a:xfrm>
          <a:prstGeom prst="roundRect">
            <a:avLst>
              <a:gd name="adj" fmla="val 7273"/>
            </a:avLst>
          </a:prstGeom>
          <a:solidFill>
            <a:srgbClr val="EFE4D0"/>
          </a:solidFill>
          <a:ln w="12700">
            <a:solidFill>
              <a:srgbClr val="EFE4D0">
                <a:alpha val="0"/>
              </a:srgbClr>
            </a:solidFill>
            <a:prstDash val="solid"/>
          </a:ln>
        </p:spPr>
      </p:sp>
      <p:sp>
        <p:nvSpPr>
          <p:cNvPr id="9" name="Text 7"/>
          <p:cNvSpPr/>
          <p:nvPr/>
        </p:nvSpPr>
        <p:spPr>
          <a:xfrm>
            <a:off x="8211312" y="996696"/>
            <a:ext cx="117957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LISTINGS</a:t>
            </a:r>
            <a:endParaRPr lang="en-US" sz="850" dirty="0"/>
          </a:p>
        </p:txBody>
      </p:sp>
      <p:sp>
        <p:nvSpPr>
          <p:cNvPr id="10" name="Text 8"/>
          <p:cNvSpPr/>
          <p:nvPr/>
        </p:nvSpPr>
        <p:spPr>
          <a:xfrm>
            <a:off x="8211312" y="1179576"/>
            <a:ext cx="117957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100k</a:t>
            </a:r>
            <a:endParaRPr lang="en-US" sz="2000" dirty="0"/>
          </a:p>
        </p:txBody>
      </p:sp>
      <p:sp>
        <p:nvSpPr>
          <p:cNvPr id="11" name="Text 9"/>
          <p:cNvSpPr/>
          <p:nvPr/>
        </p:nvSpPr>
        <p:spPr>
          <a:xfrm>
            <a:off x="8211312" y="1655064"/>
            <a:ext cx="117957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Real marketplace data</a:t>
            </a:r>
            <a:endParaRPr lang="en-US" sz="850" dirty="0"/>
          </a:p>
        </p:txBody>
      </p:sp>
      <p:sp>
        <p:nvSpPr>
          <p:cNvPr id="12" name="Shape 10"/>
          <p:cNvSpPr/>
          <p:nvPr/>
        </p:nvSpPr>
        <p:spPr>
          <a:xfrm>
            <a:off x="9710928" y="868680"/>
            <a:ext cx="1508760" cy="1005840"/>
          </a:xfrm>
          <a:prstGeom prst="roundRect">
            <a:avLst>
              <a:gd name="adj" fmla="val 7273"/>
            </a:avLst>
          </a:prstGeom>
          <a:solidFill>
            <a:srgbClr val="DCEFE9"/>
          </a:solidFill>
          <a:ln w="12700">
            <a:solidFill>
              <a:srgbClr val="DCEFE9">
                <a:alpha val="0"/>
              </a:srgbClr>
            </a:solidFill>
            <a:prstDash val="solid"/>
          </a:ln>
        </p:spPr>
      </p:sp>
      <p:sp>
        <p:nvSpPr>
          <p:cNvPr id="13" name="Text 11"/>
          <p:cNvSpPr/>
          <p:nvPr/>
        </p:nvSpPr>
        <p:spPr>
          <a:xfrm>
            <a:off x="9875520" y="996696"/>
            <a:ext cx="117957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TOP MODEL</a:t>
            </a:r>
            <a:endParaRPr lang="en-US" sz="850" dirty="0"/>
          </a:p>
        </p:txBody>
      </p:sp>
      <p:sp>
        <p:nvSpPr>
          <p:cNvPr id="14" name="Text 12"/>
          <p:cNvSpPr/>
          <p:nvPr/>
        </p:nvSpPr>
        <p:spPr>
          <a:xfrm>
            <a:off x="9875520" y="1179576"/>
            <a:ext cx="117957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0.82</a:t>
            </a:r>
            <a:endParaRPr lang="en-US" sz="2000" dirty="0"/>
          </a:p>
        </p:txBody>
      </p:sp>
      <p:sp>
        <p:nvSpPr>
          <p:cNvPr id="15" name="Text 13"/>
          <p:cNvSpPr/>
          <p:nvPr/>
        </p:nvSpPr>
        <p:spPr>
          <a:xfrm>
            <a:off x="9875520" y="1655064"/>
            <a:ext cx="117957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RF accuracy</a:t>
            </a:r>
            <a:endParaRPr lang="en-US" sz="850" dirty="0"/>
          </a:p>
        </p:txBody>
      </p:sp>
      <p:sp>
        <p:nvSpPr>
          <p:cNvPr id="16" name="Shape 14"/>
          <p:cNvSpPr/>
          <p:nvPr/>
        </p:nvSpPr>
        <p:spPr>
          <a:xfrm>
            <a:off x="8046720" y="2039112"/>
            <a:ext cx="1508760" cy="1005840"/>
          </a:xfrm>
          <a:prstGeom prst="roundRect">
            <a:avLst>
              <a:gd name="adj" fmla="val 7273"/>
            </a:avLst>
          </a:prstGeom>
          <a:solidFill>
            <a:srgbClr val="DCEAF2"/>
          </a:solidFill>
          <a:ln w="12700">
            <a:solidFill>
              <a:srgbClr val="DCEAF2">
                <a:alpha val="0"/>
              </a:srgbClr>
            </a:solidFill>
            <a:prstDash val="solid"/>
          </a:ln>
        </p:spPr>
      </p:sp>
      <p:sp>
        <p:nvSpPr>
          <p:cNvPr id="17" name="Text 15"/>
          <p:cNvSpPr/>
          <p:nvPr/>
        </p:nvSpPr>
        <p:spPr>
          <a:xfrm>
            <a:off x="8211312" y="2167128"/>
            <a:ext cx="117957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REGRESSION</a:t>
            </a:r>
            <a:endParaRPr lang="en-US" sz="850" dirty="0"/>
          </a:p>
        </p:txBody>
      </p:sp>
      <p:sp>
        <p:nvSpPr>
          <p:cNvPr id="18" name="Text 16"/>
          <p:cNvSpPr/>
          <p:nvPr/>
        </p:nvSpPr>
        <p:spPr>
          <a:xfrm>
            <a:off x="8211312" y="2350008"/>
            <a:ext cx="117957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0.36</a:t>
            </a:r>
            <a:endParaRPr lang="en-US" sz="2000" dirty="0"/>
          </a:p>
        </p:txBody>
      </p:sp>
      <p:sp>
        <p:nvSpPr>
          <p:cNvPr id="19" name="Text 17"/>
          <p:cNvSpPr/>
          <p:nvPr/>
        </p:nvSpPr>
        <p:spPr>
          <a:xfrm>
            <a:off x="8211312" y="2825496"/>
            <a:ext cx="117957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ElasticNet R^2</a:t>
            </a:r>
            <a:endParaRPr lang="en-US" sz="850" dirty="0"/>
          </a:p>
        </p:txBody>
      </p:sp>
      <p:sp>
        <p:nvSpPr>
          <p:cNvPr id="20" name="Shape 18"/>
          <p:cNvSpPr/>
          <p:nvPr/>
        </p:nvSpPr>
        <p:spPr>
          <a:xfrm>
            <a:off x="9710928" y="2039112"/>
            <a:ext cx="1508760" cy="1005840"/>
          </a:xfrm>
          <a:prstGeom prst="roundRect">
            <a:avLst>
              <a:gd name="adj" fmla="val 7273"/>
            </a:avLst>
          </a:prstGeom>
          <a:solidFill>
            <a:srgbClr val="F7E1D9"/>
          </a:solidFill>
          <a:ln w="12700">
            <a:solidFill>
              <a:srgbClr val="F7E1D9">
                <a:alpha val="0"/>
              </a:srgbClr>
            </a:solidFill>
            <a:prstDash val="solid"/>
          </a:ln>
        </p:spPr>
      </p:sp>
      <p:sp>
        <p:nvSpPr>
          <p:cNvPr id="21" name="Text 19"/>
          <p:cNvSpPr/>
          <p:nvPr/>
        </p:nvSpPr>
        <p:spPr>
          <a:xfrm>
            <a:off x="9875520" y="2167128"/>
            <a:ext cx="117957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INSIGHT</a:t>
            </a:r>
            <a:endParaRPr lang="en-US" sz="850" dirty="0"/>
          </a:p>
        </p:txBody>
      </p:sp>
      <p:sp>
        <p:nvSpPr>
          <p:cNvPr id="22" name="Text 20"/>
          <p:cNvSpPr/>
          <p:nvPr/>
        </p:nvSpPr>
        <p:spPr>
          <a:xfrm>
            <a:off x="9875520" y="2350008"/>
            <a:ext cx="117957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Behavior</a:t>
            </a:r>
            <a:endParaRPr lang="en-US" sz="2000" dirty="0"/>
          </a:p>
        </p:txBody>
      </p:sp>
      <p:sp>
        <p:nvSpPr>
          <p:cNvPr id="23" name="Text 21"/>
          <p:cNvSpPr/>
          <p:nvPr/>
        </p:nvSpPr>
        <p:spPr>
          <a:xfrm>
            <a:off x="9875520" y="2825496"/>
            <a:ext cx="117957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Seller signals dominate</a:t>
            </a:r>
            <a:endParaRPr lang="en-US" sz="850" dirty="0"/>
          </a:p>
        </p:txBody>
      </p:sp>
      <p:sp>
        <p:nvSpPr>
          <p:cNvPr id="24" name="Shape 22"/>
          <p:cNvSpPr/>
          <p:nvPr/>
        </p:nvSpPr>
        <p:spPr>
          <a:xfrm>
            <a:off x="1024128" y="3886200"/>
            <a:ext cx="10195560" cy="1508760"/>
          </a:xfrm>
          <a:prstGeom prst="roundRect">
            <a:avLst>
              <a:gd name="adj" fmla="val 4848"/>
            </a:avLst>
          </a:prstGeom>
          <a:solidFill>
            <a:srgbClr val="FFFFFF"/>
          </a:solidFill>
          <a:ln w="12700">
            <a:solidFill>
              <a:srgbClr val="D8D1C4"/>
            </a:solidFill>
            <a:prstDash val="solid"/>
          </a:ln>
        </p:spPr>
      </p:sp>
      <p:sp>
        <p:nvSpPr>
          <p:cNvPr id="25" name="Text 23"/>
          <p:cNvSpPr/>
          <p:nvPr/>
        </p:nvSpPr>
        <p:spPr>
          <a:xfrm>
            <a:off x="1234440" y="4160520"/>
            <a:ext cx="2926080" cy="146304"/>
          </a:xfrm>
          <a:prstGeom prst="rect">
            <a:avLst/>
          </a:prstGeom>
          <a:noFill/>
          <a:ln/>
        </p:spPr>
        <p:txBody>
          <a:bodyPr wrap="square" lIns="0" tIns="0" rIns="0" bIns="0" rtlCol="0" anchor="ctr"/>
          <a:lstStyle/>
          <a:p>
            <a:pPr indent="0" marL="0">
              <a:buNone/>
            </a:pPr>
            <a:r>
              <a:rPr lang="en-US" sz="900" b="1" dirty="0">
                <a:solidFill>
                  <a:srgbClr val="5C6770"/>
                </a:solidFill>
                <a:latin typeface="Aptos" pitchFamily="34" charset="0"/>
                <a:ea typeface="Aptos" pitchFamily="34" charset="-122"/>
                <a:cs typeface="Aptos" pitchFamily="34" charset="-120"/>
              </a:rPr>
              <a:t>PROJECT</a:t>
            </a:r>
            <a:endParaRPr lang="en-US" sz="900" dirty="0"/>
          </a:p>
        </p:txBody>
      </p:sp>
      <p:sp>
        <p:nvSpPr>
          <p:cNvPr id="26" name="Text 24"/>
          <p:cNvSpPr/>
          <p:nvPr/>
        </p:nvSpPr>
        <p:spPr>
          <a:xfrm>
            <a:off x="1234440" y="4398264"/>
            <a:ext cx="2926080" cy="310896"/>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Mercado Libre marketplace ML project</a:t>
            </a:r>
            <a:endParaRPr lang="en-US" sz="1600" dirty="0"/>
          </a:p>
        </p:txBody>
      </p:sp>
      <p:sp>
        <p:nvSpPr>
          <p:cNvPr id="27" name="Text 25"/>
          <p:cNvSpPr/>
          <p:nvPr/>
        </p:nvSpPr>
        <p:spPr>
          <a:xfrm>
            <a:off x="4343400" y="4160520"/>
            <a:ext cx="1280160" cy="146304"/>
          </a:xfrm>
          <a:prstGeom prst="rect">
            <a:avLst/>
          </a:prstGeom>
          <a:noFill/>
          <a:ln/>
        </p:spPr>
        <p:txBody>
          <a:bodyPr wrap="square" lIns="0" tIns="0" rIns="0" bIns="0" rtlCol="0" anchor="ctr"/>
          <a:lstStyle/>
          <a:p>
            <a:pPr indent="0" marL="0">
              <a:buNone/>
            </a:pPr>
            <a:r>
              <a:rPr lang="en-US" sz="900" b="1" dirty="0">
                <a:solidFill>
                  <a:srgbClr val="5C6770"/>
                </a:solidFill>
                <a:latin typeface="Aptos" pitchFamily="34" charset="0"/>
                <a:ea typeface="Aptos" pitchFamily="34" charset="-122"/>
                <a:cs typeface="Aptos" pitchFamily="34" charset="-120"/>
              </a:rPr>
              <a:t>COURSE</a:t>
            </a:r>
            <a:endParaRPr lang="en-US" sz="900" dirty="0"/>
          </a:p>
        </p:txBody>
      </p:sp>
      <p:sp>
        <p:nvSpPr>
          <p:cNvPr id="28" name="Text 26"/>
          <p:cNvSpPr/>
          <p:nvPr/>
        </p:nvSpPr>
        <p:spPr>
          <a:xfrm>
            <a:off x="4343400" y="4398264"/>
            <a:ext cx="1280160" cy="310896"/>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DAMO510</a:t>
            </a:r>
            <a:endParaRPr lang="en-US" sz="1600" dirty="0"/>
          </a:p>
        </p:txBody>
      </p:sp>
      <p:sp>
        <p:nvSpPr>
          <p:cNvPr id="29" name="Text 27"/>
          <p:cNvSpPr/>
          <p:nvPr/>
        </p:nvSpPr>
        <p:spPr>
          <a:xfrm>
            <a:off x="5760720" y="4160520"/>
            <a:ext cx="2377440" cy="146304"/>
          </a:xfrm>
          <a:prstGeom prst="rect">
            <a:avLst/>
          </a:prstGeom>
          <a:noFill/>
          <a:ln/>
        </p:spPr>
        <p:txBody>
          <a:bodyPr wrap="square" lIns="0" tIns="0" rIns="0" bIns="0" rtlCol="0" anchor="ctr"/>
          <a:lstStyle/>
          <a:p>
            <a:pPr indent="0" marL="0">
              <a:buNone/>
            </a:pPr>
            <a:r>
              <a:rPr lang="en-US" sz="900" b="1" dirty="0">
                <a:solidFill>
                  <a:srgbClr val="5C6770"/>
                </a:solidFill>
                <a:latin typeface="Aptos" pitchFamily="34" charset="0"/>
                <a:ea typeface="Aptos" pitchFamily="34" charset="-122"/>
                <a:cs typeface="Aptos" pitchFamily="34" charset="-120"/>
              </a:rPr>
              <a:t>TEAM</a:t>
            </a:r>
            <a:endParaRPr lang="en-US" sz="900" dirty="0"/>
          </a:p>
        </p:txBody>
      </p:sp>
      <p:sp>
        <p:nvSpPr>
          <p:cNvPr id="30" name="Text 28"/>
          <p:cNvSpPr/>
          <p:nvPr/>
        </p:nvSpPr>
        <p:spPr>
          <a:xfrm>
            <a:off x="5760720" y="4398264"/>
            <a:ext cx="2377440" cy="310896"/>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[Add team names]</a:t>
            </a:r>
            <a:endParaRPr lang="en-US" sz="1600" dirty="0"/>
          </a:p>
        </p:txBody>
      </p:sp>
      <p:sp>
        <p:nvSpPr>
          <p:cNvPr id="31" name="Text 29"/>
          <p:cNvSpPr/>
          <p:nvPr/>
        </p:nvSpPr>
        <p:spPr>
          <a:xfrm>
            <a:off x="8366760" y="4160520"/>
            <a:ext cx="2148840" cy="146304"/>
          </a:xfrm>
          <a:prstGeom prst="rect">
            <a:avLst/>
          </a:prstGeom>
          <a:noFill/>
          <a:ln/>
        </p:spPr>
        <p:txBody>
          <a:bodyPr wrap="square" lIns="0" tIns="0" rIns="0" bIns="0" rtlCol="0" anchor="ctr"/>
          <a:lstStyle/>
          <a:p>
            <a:pPr indent="0" marL="0">
              <a:buNone/>
            </a:pPr>
            <a:r>
              <a:rPr lang="en-US" sz="900" b="1" dirty="0">
                <a:solidFill>
                  <a:srgbClr val="5C6770"/>
                </a:solidFill>
                <a:latin typeface="Aptos" pitchFamily="34" charset="0"/>
                <a:ea typeface="Aptos" pitchFamily="34" charset="-122"/>
                <a:cs typeface="Aptos" pitchFamily="34" charset="-120"/>
              </a:rPr>
              <a:t>DATE</a:t>
            </a:r>
            <a:endParaRPr lang="en-US" sz="900" dirty="0"/>
          </a:p>
        </p:txBody>
      </p:sp>
      <p:sp>
        <p:nvSpPr>
          <p:cNvPr id="32" name="Text 30"/>
          <p:cNvSpPr/>
          <p:nvPr/>
        </p:nvSpPr>
        <p:spPr>
          <a:xfrm>
            <a:off x="8366760" y="4398264"/>
            <a:ext cx="2148840" cy="310896"/>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March 16, 2026</a:t>
            </a:r>
            <a:endParaRPr lang="en-US" sz="1600" dirty="0"/>
          </a:p>
        </p:txBody>
      </p:sp>
      <p:sp>
        <p:nvSpPr>
          <p:cNvPr id="33" name="Text 31"/>
          <p:cNvSpPr/>
          <p:nvPr/>
        </p:nvSpPr>
        <p:spPr>
          <a:xfrm>
            <a:off x="640080" y="6455664"/>
            <a:ext cx="10241280" cy="146304"/>
          </a:xfrm>
          <a:prstGeom prst="rect">
            <a:avLst/>
          </a:prstGeom>
          <a:noFill/>
          <a:ln/>
        </p:spPr>
        <p:txBody>
          <a:bodyPr wrap="square" lIns="0" tIns="0" rIns="0" bIns="0" rtlCol="0" anchor="ctr"/>
          <a:lstStyle/>
          <a:p>
            <a:pPr indent="0" marL="0">
              <a:buNone/>
            </a:pPr>
            <a:r>
              <a:rPr lang="en-US" sz="800" dirty="0">
                <a:solidFill>
                  <a:srgbClr val="5C6770"/>
                </a:solidFill>
                <a:latin typeface="Aptos" pitchFamily="34" charset="0"/>
                <a:ea typeface="Aptos" pitchFamily="34" charset="-122"/>
                <a:cs typeface="Aptos" pitchFamily="34" charset="-120"/>
              </a:rPr>
              <a:t>Speaker notes included in PowerPoint presenter 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02</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PROBLEM &amp; MOTIVATION</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Why this marketplace problem matters</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Prediction is useful only if it also reveals the marketplace logic behind each listing.</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1</a:t>
            </a:r>
            <a:endParaRPr lang="en-US" sz="1000" dirty="0"/>
          </a:p>
        </p:txBody>
      </p:sp>
      <p:sp>
        <p:nvSpPr>
          <p:cNvPr id="11" name="Text 9"/>
          <p:cNvSpPr/>
          <p:nvPr/>
        </p:nvSpPr>
        <p:spPr>
          <a:xfrm>
            <a:off x="822960" y="2148840"/>
            <a:ext cx="2926080" cy="201168"/>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Core business problems</a:t>
            </a:r>
            <a:endParaRPr lang="en-US" sz="1700" dirty="0"/>
          </a:p>
        </p:txBody>
      </p:sp>
      <p:sp>
        <p:nvSpPr>
          <p:cNvPr id="12" name="Shape 10"/>
          <p:cNvSpPr/>
          <p:nvPr/>
        </p:nvSpPr>
        <p:spPr>
          <a:xfrm>
            <a:off x="841248" y="2642616"/>
            <a:ext cx="100584" cy="100584"/>
          </a:xfrm>
          <a:prstGeom prst="ellipse">
            <a:avLst/>
          </a:prstGeom>
          <a:solidFill>
            <a:srgbClr val="E76F51"/>
          </a:solidFill>
          <a:ln w="12700">
            <a:solidFill>
              <a:srgbClr val="E76F51">
                <a:alpha val="0"/>
              </a:srgbClr>
            </a:solidFill>
            <a:prstDash val="solid"/>
          </a:ln>
        </p:spPr>
      </p:sp>
      <p:sp>
        <p:nvSpPr>
          <p:cNvPr id="13" name="Text 11"/>
          <p:cNvSpPr/>
          <p:nvPr/>
        </p:nvSpPr>
        <p:spPr>
          <a:xfrm>
            <a:off x="1042416" y="2542032"/>
            <a:ext cx="4206240" cy="292608"/>
          </a:xfrm>
          <a:prstGeom prst="rect">
            <a:avLst/>
          </a:prstGeom>
          <a:noFill/>
          <a:ln/>
        </p:spPr>
        <p:txBody>
          <a:bodyPr wrap="square" lIns="0" tIns="0" rIns="0" bIns="0" rtlCol="0" anchor="ctr"/>
          <a:lstStyle/>
          <a:p>
            <a:pPr indent="0" marL="0">
              <a:buNone/>
            </a:pPr>
            <a:r>
              <a:rPr lang="en-US" sz="1500" dirty="0">
                <a:solidFill>
                  <a:srgbClr val="1B2A41"/>
                </a:solidFill>
                <a:latin typeface="Aptos" pitchFamily="34" charset="0"/>
                <a:ea typeface="Aptos" pitchFamily="34" charset="-122"/>
                <a:cs typeface="Aptos" pitchFamily="34" charset="-120"/>
              </a:rPr>
              <a:t>Predict listing price in a noisy, heterogeneous marketplace.</a:t>
            </a:r>
            <a:endParaRPr lang="en-US" sz="1500" dirty="0"/>
          </a:p>
        </p:txBody>
      </p:sp>
      <p:sp>
        <p:nvSpPr>
          <p:cNvPr id="14" name="Shape 12"/>
          <p:cNvSpPr/>
          <p:nvPr/>
        </p:nvSpPr>
        <p:spPr>
          <a:xfrm>
            <a:off x="841248" y="3118104"/>
            <a:ext cx="100584" cy="100584"/>
          </a:xfrm>
          <a:prstGeom prst="ellipse">
            <a:avLst/>
          </a:prstGeom>
          <a:solidFill>
            <a:srgbClr val="E76F51"/>
          </a:solidFill>
          <a:ln w="12700">
            <a:solidFill>
              <a:srgbClr val="E76F51">
                <a:alpha val="0"/>
              </a:srgbClr>
            </a:solidFill>
            <a:prstDash val="solid"/>
          </a:ln>
        </p:spPr>
      </p:sp>
      <p:sp>
        <p:nvSpPr>
          <p:cNvPr id="15" name="Text 13"/>
          <p:cNvSpPr/>
          <p:nvPr/>
        </p:nvSpPr>
        <p:spPr>
          <a:xfrm>
            <a:off x="1042416" y="3017520"/>
            <a:ext cx="4206240" cy="292608"/>
          </a:xfrm>
          <a:prstGeom prst="rect">
            <a:avLst/>
          </a:prstGeom>
          <a:noFill/>
          <a:ln/>
        </p:spPr>
        <p:txBody>
          <a:bodyPr wrap="square" lIns="0" tIns="0" rIns="0" bIns="0" rtlCol="0" anchor="ctr"/>
          <a:lstStyle/>
          <a:p>
            <a:pPr indent="0" marL="0">
              <a:buNone/>
            </a:pPr>
            <a:r>
              <a:rPr lang="en-US" sz="1500" dirty="0">
                <a:solidFill>
                  <a:srgbClr val="1B2A41"/>
                </a:solidFill>
                <a:latin typeface="Aptos" pitchFamily="34" charset="0"/>
                <a:ea typeface="Aptos" pitchFamily="34" charset="-122"/>
                <a:cs typeface="Aptos" pitchFamily="34" charset="-120"/>
              </a:rPr>
              <a:t>Classify products as new or used from imperfect operational signals.</a:t>
            </a:r>
            <a:endParaRPr lang="en-US" sz="1500" dirty="0"/>
          </a:p>
        </p:txBody>
      </p:sp>
      <p:sp>
        <p:nvSpPr>
          <p:cNvPr id="16" name="Shape 14"/>
          <p:cNvSpPr/>
          <p:nvPr/>
        </p:nvSpPr>
        <p:spPr>
          <a:xfrm>
            <a:off x="841248" y="3593592"/>
            <a:ext cx="100584" cy="100584"/>
          </a:xfrm>
          <a:prstGeom prst="ellipse">
            <a:avLst/>
          </a:prstGeom>
          <a:solidFill>
            <a:srgbClr val="E76F51"/>
          </a:solidFill>
          <a:ln w="12700">
            <a:solidFill>
              <a:srgbClr val="E76F51">
                <a:alpha val="0"/>
              </a:srgbClr>
            </a:solidFill>
            <a:prstDash val="solid"/>
          </a:ln>
        </p:spPr>
      </p:sp>
      <p:sp>
        <p:nvSpPr>
          <p:cNvPr id="17" name="Text 15"/>
          <p:cNvSpPr/>
          <p:nvPr/>
        </p:nvSpPr>
        <p:spPr>
          <a:xfrm>
            <a:off x="1042416" y="3493008"/>
            <a:ext cx="4206240" cy="292608"/>
          </a:xfrm>
          <a:prstGeom prst="rect">
            <a:avLst/>
          </a:prstGeom>
          <a:noFill/>
          <a:ln/>
        </p:spPr>
        <p:txBody>
          <a:bodyPr wrap="square" lIns="0" tIns="0" rIns="0" bIns="0" rtlCol="0" anchor="ctr"/>
          <a:lstStyle/>
          <a:p>
            <a:pPr indent="0" marL="0">
              <a:buNone/>
            </a:pPr>
            <a:r>
              <a:rPr lang="en-US" sz="1500" dirty="0">
                <a:solidFill>
                  <a:srgbClr val="1B2A41"/>
                </a:solidFill>
                <a:latin typeface="Aptos" pitchFamily="34" charset="0"/>
                <a:ea typeface="Aptos" pitchFamily="34" charset="-122"/>
                <a:cs typeface="Aptos" pitchFamily="34" charset="-120"/>
              </a:rPr>
              <a:t>Move beyond prediction toward marketplace understanding.</a:t>
            </a:r>
            <a:endParaRPr lang="en-US" sz="1500" dirty="0"/>
          </a:p>
        </p:txBody>
      </p:sp>
      <p:sp>
        <p:nvSpPr>
          <p:cNvPr id="18" name="Shape 16"/>
          <p:cNvSpPr/>
          <p:nvPr/>
        </p:nvSpPr>
        <p:spPr>
          <a:xfrm>
            <a:off x="5577840" y="2240280"/>
            <a:ext cx="1783080" cy="2148840"/>
          </a:xfrm>
          <a:prstGeom prst="roundRect">
            <a:avLst>
              <a:gd name="adj" fmla="val 4103"/>
            </a:avLst>
          </a:prstGeom>
          <a:solidFill>
            <a:srgbClr val="EFE4D0"/>
          </a:solidFill>
          <a:ln w="12700">
            <a:solidFill>
              <a:srgbClr val="EFE4D0">
                <a:alpha val="0"/>
              </a:srgbClr>
            </a:solidFill>
            <a:prstDash val="solid"/>
          </a:ln>
        </p:spPr>
      </p:sp>
      <p:sp>
        <p:nvSpPr>
          <p:cNvPr id="19" name="Text 17"/>
          <p:cNvSpPr/>
          <p:nvPr/>
        </p:nvSpPr>
        <p:spPr>
          <a:xfrm>
            <a:off x="5715000" y="2468880"/>
            <a:ext cx="1508760" cy="201168"/>
          </a:xfrm>
          <a:prstGeom prst="rect">
            <a:avLst/>
          </a:prstGeom>
          <a:noFill/>
          <a:ln/>
        </p:spPr>
        <p:txBody>
          <a:bodyPr wrap="square" lIns="0" tIns="0" rIns="0" bIns="0" rtlCol="0" anchor="ctr"/>
          <a:lstStyle/>
          <a:p>
            <a:pPr algn="ctr" indent="0" marL="0">
              <a:buNone/>
            </a:pPr>
            <a:r>
              <a:rPr lang="en-US" sz="1500" b="1" dirty="0">
                <a:solidFill>
                  <a:srgbClr val="1B2A41"/>
                </a:solidFill>
                <a:latin typeface="Trebuchet MS" pitchFamily="34" charset="0"/>
                <a:ea typeface="Trebuchet MS" pitchFamily="34" charset="-122"/>
                <a:cs typeface="Trebuchet MS" pitchFamily="34" charset="-120"/>
              </a:rPr>
              <a:t>Trust</a:t>
            </a:r>
            <a:endParaRPr lang="en-US" sz="1500" dirty="0"/>
          </a:p>
        </p:txBody>
      </p:sp>
      <p:sp>
        <p:nvSpPr>
          <p:cNvPr id="20" name="Text 18"/>
          <p:cNvSpPr/>
          <p:nvPr/>
        </p:nvSpPr>
        <p:spPr>
          <a:xfrm>
            <a:off x="5724144" y="2907792"/>
            <a:ext cx="1481328" cy="1143000"/>
          </a:xfrm>
          <a:prstGeom prst="rect">
            <a:avLst/>
          </a:prstGeom>
          <a:noFill/>
          <a:ln/>
        </p:spPr>
        <p:txBody>
          <a:bodyPr wrap="square" lIns="254" tIns="254" rIns="254" bIns="254" rtlCol="0" anchor="ctr"/>
          <a:lstStyle/>
          <a:p>
            <a:pPr algn="ctr" indent="0" marL="0">
              <a:buNone/>
            </a:pPr>
            <a:r>
              <a:rPr lang="en-US" sz="1150" dirty="0">
                <a:solidFill>
                  <a:srgbClr val="1B2A41"/>
                </a:solidFill>
                <a:latin typeface="Aptos" pitchFamily="34" charset="0"/>
                <a:ea typeface="Aptos" pitchFamily="34" charset="-122"/>
                <a:cs typeface="Aptos" pitchFamily="34" charset="-120"/>
              </a:rPr>
              <a:t>Better condition signals reduce buyer uncertainty and misleading listings.</a:t>
            </a:r>
            <a:endParaRPr lang="en-US" sz="1150" dirty="0"/>
          </a:p>
        </p:txBody>
      </p:sp>
      <p:sp>
        <p:nvSpPr>
          <p:cNvPr id="21" name="Shape 19"/>
          <p:cNvSpPr/>
          <p:nvPr/>
        </p:nvSpPr>
        <p:spPr>
          <a:xfrm>
            <a:off x="7680960" y="2240280"/>
            <a:ext cx="1783080" cy="2148840"/>
          </a:xfrm>
          <a:prstGeom prst="roundRect">
            <a:avLst>
              <a:gd name="adj" fmla="val 4103"/>
            </a:avLst>
          </a:prstGeom>
          <a:solidFill>
            <a:srgbClr val="DCEFE9"/>
          </a:solidFill>
          <a:ln w="12700">
            <a:solidFill>
              <a:srgbClr val="DCEFE9">
                <a:alpha val="0"/>
              </a:srgbClr>
            </a:solidFill>
            <a:prstDash val="solid"/>
          </a:ln>
        </p:spPr>
      </p:sp>
      <p:sp>
        <p:nvSpPr>
          <p:cNvPr id="22" name="Text 20"/>
          <p:cNvSpPr/>
          <p:nvPr/>
        </p:nvSpPr>
        <p:spPr>
          <a:xfrm>
            <a:off x="7818120" y="2468880"/>
            <a:ext cx="1508760" cy="201168"/>
          </a:xfrm>
          <a:prstGeom prst="rect">
            <a:avLst/>
          </a:prstGeom>
          <a:noFill/>
          <a:ln/>
        </p:spPr>
        <p:txBody>
          <a:bodyPr wrap="square" lIns="0" tIns="0" rIns="0" bIns="0" rtlCol="0" anchor="ctr"/>
          <a:lstStyle/>
          <a:p>
            <a:pPr algn="ctr" indent="0" marL="0">
              <a:buNone/>
            </a:pPr>
            <a:r>
              <a:rPr lang="en-US" sz="1500" b="1" dirty="0">
                <a:solidFill>
                  <a:srgbClr val="1B2A41"/>
                </a:solidFill>
                <a:latin typeface="Trebuchet MS" pitchFamily="34" charset="0"/>
                <a:ea typeface="Trebuchet MS" pitchFamily="34" charset="-122"/>
                <a:cs typeface="Trebuchet MS" pitchFamily="34" charset="-120"/>
              </a:rPr>
              <a:t>Search Ranking</a:t>
            </a:r>
            <a:endParaRPr lang="en-US" sz="1500" dirty="0"/>
          </a:p>
        </p:txBody>
      </p:sp>
      <p:sp>
        <p:nvSpPr>
          <p:cNvPr id="23" name="Text 21"/>
          <p:cNvSpPr/>
          <p:nvPr/>
        </p:nvSpPr>
        <p:spPr>
          <a:xfrm>
            <a:off x="7827264" y="2907792"/>
            <a:ext cx="1481328" cy="1143000"/>
          </a:xfrm>
          <a:prstGeom prst="rect">
            <a:avLst/>
          </a:prstGeom>
          <a:noFill/>
          <a:ln/>
        </p:spPr>
        <p:txBody>
          <a:bodyPr wrap="square" lIns="254" tIns="254" rIns="254" bIns="254" rtlCol="0" anchor="ctr"/>
          <a:lstStyle/>
          <a:p>
            <a:pPr algn="ctr" indent="0" marL="0">
              <a:buNone/>
            </a:pPr>
            <a:r>
              <a:rPr lang="en-US" sz="1150" dirty="0">
                <a:solidFill>
                  <a:srgbClr val="1B2A41"/>
                </a:solidFill>
                <a:latin typeface="Aptos" pitchFamily="34" charset="0"/>
                <a:ea typeface="Aptos" pitchFamily="34" charset="-122"/>
                <a:cs typeface="Aptos" pitchFamily="34" charset="-120"/>
              </a:rPr>
              <a:t>Condition and price quality directly affect relevance, ranking, and conversion.</a:t>
            </a:r>
            <a:endParaRPr lang="en-US" sz="1150" dirty="0"/>
          </a:p>
        </p:txBody>
      </p:sp>
      <p:sp>
        <p:nvSpPr>
          <p:cNvPr id="24" name="Shape 22"/>
          <p:cNvSpPr/>
          <p:nvPr/>
        </p:nvSpPr>
        <p:spPr>
          <a:xfrm>
            <a:off x="9784080" y="2240280"/>
            <a:ext cx="1783080" cy="2148840"/>
          </a:xfrm>
          <a:prstGeom prst="roundRect">
            <a:avLst>
              <a:gd name="adj" fmla="val 4103"/>
            </a:avLst>
          </a:prstGeom>
          <a:solidFill>
            <a:srgbClr val="DCEAF2"/>
          </a:solidFill>
          <a:ln w="12700">
            <a:solidFill>
              <a:srgbClr val="DCEAF2">
                <a:alpha val="0"/>
              </a:srgbClr>
            </a:solidFill>
            <a:prstDash val="solid"/>
          </a:ln>
        </p:spPr>
      </p:sp>
      <p:sp>
        <p:nvSpPr>
          <p:cNvPr id="25" name="Text 23"/>
          <p:cNvSpPr/>
          <p:nvPr/>
        </p:nvSpPr>
        <p:spPr>
          <a:xfrm>
            <a:off x="9921240" y="2468880"/>
            <a:ext cx="1508760" cy="201168"/>
          </a:xfrm>
          <a:prstGeom prst="rect">
            <a:avLst/>
          </a:prstGeom>
          <a:noFill/>
          <a:ln/>
        </p:spPr>
        <p:txBody>
          <a:bodyPr wrap="square" lIns="0" tIns="0" rIns="0" bIns="0" rtlCol="0" anchor="ctr"/>
          <a:lstStyle/>
          <a:p>
            <a:pPr algn="ctr" indent="0" marL="0">
              <a:buNone/>
            </a:pPr>
            <a:r>
              <a:rPr lang="en-US" sz="1500" b="1" dirty="0">
                <a:solidFill>
                  <a:srgbClr val="1B2A41"/>
                </a:solidFill>
                <a:latin typeface="Trebuchet MS" pitchFamily="34" charset="0"/>
                <a:ea typeface="Trebuchet MS" pitchFamily="34" charset="-122"/>
                <a:cs typeface="Trebuchet MS" pitchFamily="34" charset="-120"/>
              </a:rPr>
              <a:t>Seller Behavior</a:t>
            </a:r>
            <a:endParaRPr lang="en-US" sz="1500" dirty="0"/>
          </a:p>
        </p:txBody>
      </p:sp>
      <p:sp>
        <p:nvSpPr>
          <p:cNvPr id="26" name="Text 24"/>
          <p:cNvSpPr/>
          <p:nvPr/>
        </p:nvSpPr>
        <p:spPr>
          <a:xfrm>
            <a:off x="9930384" y="2907792"/>
            <a:ext cx="1481328" cy="1143000"/>
          </a:xfrm>
          <a:prstGeom prst="rect">
            <a:avLst/>
          </a:prstGeom>
          <a:noFill/>
          <a:ln/>
        </p:spPr>
        <p:txBody>
          <a:bodyPr wrap="square" lIns="254" tIns="254" rIns="254" bIns="254" rtlCol="0" anchor="ctr"/>
          <a:lstStyle/>
          <a:p>
            <a:pPr algn="ctr" indent="0" marL="0">
              <a:buNone/>
            </a:pPr>
            <a:r>
              <a:rPr lang="en-US" sz="1150" dirty="0">
                <a:solidFill>
                  <a:srgbClr val="1B2A41"/>
                </a:solidFill>
                <a:latin typeface="Aptos" pitchFamily="34" charset="0"/>
                <a:ea typeface="Aptos" pitchFamily="34" charset="-122"/>
                <a:cs typeface="Aptos" pitchFamily="34" charset="-120"/>
              </a:rPr>
              <a:t>Patterns in listings reveal who is acting casually versus professionally.</a:t>
            </a:r>
            <a:endParaRPr lang="en-US" sz="1150" dirty="0"/>
          </a:p>
        </p:txBody>
      </p:sp>
      <p:sp>
        <p:nvSpPr>
          <p:cNvPr id="27" name="Shape 25"/>
          <p:cNvSpPr/>
          <p:nvPr/>
        </p:nvSpPr>
        <p:spPr>
          <a:xfrm>
            <a:off x="777240" y="5440680"/>
            <a:ext cx="10698480" cy="658368"/>
          </a:xfrm>
          <a:prstGeom prst="roundRect">
            <a:avLst>
              <a:gd name="adj" fmla="val 11111"/>
            </a:avLst>
          </a:prstGeom>
          <a:solidFill>
            <a:srgbClr val="F7E1D9"/>
          </a:solidFill>
          <a:ln w="12700">
            <a:solidFill>
              <a:srgbClr val="F7E1D9">
                <a:alpha val="0"/>
              </a:srgbClr>
            </a:solidFill>
            <a:prstDash val="solid"/>
          </a:ln>
        </p:spPr>
      </p:sp>
      <p:sp>
        <p:nvSpPr>
          <p:cNvPr id="28" name="Text 26"/>
          <p:cNvSpPr/>
          <p:nvPr/>
        </p:nvSpPr>
        <p:spPr>
          <a:xfrm>
            <a:off x="1005840" y="557784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We wanted not only to predict, but to understand how marketplaces actually behave.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03</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DATASET OVERVIEW</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A real production-style marketplace dataset</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dataset combines conventional tabular features with nested marketplace metadata.</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1</a:t>
            </a:r>
            <a:endParaRPr lang="en-US" sz="1000" dirty="0"/>
          </a:p>
        </p:txBody>
      </p:sp>
      <p:sp>
        <p:nvSpPr>
          <p:cNvPr id="11" name="Shape 9"/>
          <p:cNvSpPr/>
          <p:nvPr/>
        </p:nvSpPr>
        <p:spPr>
          <a:xfrm>
            <a:off x="868680" y="2057400"/>
            <a:ext cx="2148840" cy="1078992"/>
          </a:xfrm>
          <a:prstGeom prst="roundRect">
            <a:avLst>
              <a:gd name="adj" fmla="val 6780"/>
            </a:avLst>
          </a:prstGeom>
          <a:solidFill>
            <a:srgbClr val="EFE4D0"/>
          </a:solidFill>
          <a:ln w="12700">
            <a:solidFill>
              <a:srgbClr val="EFE4D0">
                <a:alpha val="0"/>
              </a:srgbClr>
            </a:solidFill>
            <a:prstDash val="solid"/>
          </a:ln>
        </p:spPr>
      </p:sp>
      <p:sp>
        <p:nvSpPr>
          <p:cNvPr id="12" name="Text 10"/>
          <p:cNvSpPr/>
          <p:nvPr/>
        </p:nvSpPr>
        <p:spPr>
          <a:xfrm>
            <a:off x="1033272" y="2185416"/>
            <a:ext cx="18196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ROWS</a:t>
            </a:r>
            <a:endParaRPr lang="en-US" sz="850" dirty="0"/>
          </a:p>
        </p:txBody>
      </p:sp>
      <p:sp>
        <p:nvSpPr>
          <p:cNvPr id="13" name="Text 11"/>
          <p:cNvSpPr/>
          <p:nvPr/>
        </p:nvSpPr>
        <p:spPr>
          <a:xfrm>
            <a:off x="1033272" y="2368296"/>
            <a:ext cx="18196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100,000</a:t>
            </a:r>
            <a:endParaRPr lang="en-US" sz="2000" dirty="0"/>
          </a:p>
        </p:txBody>
      </p:sp>
      <p:sp>
        <p:nvSpPr>
          <p:cNvPr id="14" name="Text 12"/>
          <p:cNvSpPr/>
          <p:nvPr/>
        </p:nvSpPr>
        <p:spPr>
          <a:xfrm>
            <a:off x="1033272" y="2916936"/>
            <a:ext cx="18196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Mercado Libre listings</a:t>
            </a:r>
            <a:endParaRPr lang="en-US" sz="850" dirty="0"/>
          </a:p>
        </p:txBody>
      </p:sp>
      <p:sp>
        <p:nvSpPr>
          <p:cNvPr id="15" name="Shape 13"/>
          <p:cNvSpPr/>
          <p:nvPr/>
        </p:nvSpPr>
        <p:spPr>
          <a:xfrm>
            <a:off x="3200400" y="2057400"/>
            <a:ext cx="2148840" cy="1078992"/>
          </a:xfrm>
          <a:prstGeom prst="roundRect">
            <a:avLst>
              <a:gd name="adj" fmla="val 6780"/>
            </a:avLst>
          </a:prstGeom>
          <a:solidFill>
            <a:srgbClr val="DCEFE9"/>
          </a:solidFill>
          <a:ln w="12700">
            <a:solidFill>
              <a:srgbClr val="DCEFE9">
                <a:alpha val="0"/>
              </a:srgbClr>
            </a:solidFill>
            <a:prstDash val="solid"/>
          </a:ln>
        </p:spPr>
      </p:sp>
      <p:sp>
        <p:nvSpPr>
          <p:cNvPr id="16" name="Text 14"/>
          <p:cNvSpPr/>
          <p:nvPr/>
        </p:nvSpPr>
        <p:spPr>
          <a:xfrm>
            <a:off x="3364992" y="2185416"/>
            <a:ext cx="18196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RAW COLUMNS</a:t>
            </a:r>
            <a:endParaRPr lang="en-US" sz="850" dirty="0"/>
          </a:p>
        </p:txBody>
      </p:sp>
      <p:sp>
        <p:nvSpPr>
          <p:cNvPr id="17" name="Text 15"/>
          <p:cNvSpPr/>
          <p:nvPr/>
        </p:nvSpPr>
        <p:spPr>
          <a:xfrm>
            <a:off x="3364992" y="2368296"/>
            <a:ext cx="18196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45</a:t>
            </a:r>
            <a:endParaRPr lang="en-US" sz="2000" dirty="0"/>
          </a:p>
        </p:txBody>
      </p:sp>
      <p:sp>
        <p:nvSpPr>
          <p:cNvPr id="18" name="Text 16"/>
          <p:cNvSpPr/>
          <p:nvPr/>
        </p:nvSpPr>
        <p:spPr>
          <a:xfrm>
            <a:off x="3364992" y="2916936"/>
            <a:ext cx="18196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Before initial pruning</a:t>
            </a:r>
            <a:endParaRPr lang="en-US" sz="850" dirty="0"/>
          </a:p>
        </p:txBody>
      </p:sp>
      <p:sp>
        <p:nvSpPr>
          <p:cNvPr id="19" name="Shape 17"/>
          <p:cNvSpPr/>
          <p:nvPr/>
        </p:nvSpPr>
        <p:spPr>
          <a:xfrm>
            <a:off x="5532120" y="2057400"/>
            <a:ext cx="2148840" cy="1078992"/>
          </a:xfrm>
          <a:prstGeom prst="roundRect">
            <a:avLst>
              <a:gd name="adj" fmla="val 6780"/>
            </a:avLst>
          </a:prstGeom>
          <a:solidFill>
            <a:srgbClr val="DCEAF2"/>
          </a:solidFill>
          <a:ln w="12700">
            <a:solidFill>
              <a:srgbClr val="DCEAF2">
                <a:alpha val="0"/>
              </a:srgbClr>
            </a:solidFill>
            <a:prstDash val="solid"/>
          </a:ln>
        </p:spPr>
      </p:sp>
      <p:sp>
        <p:nvSpPr>
          <p:cNvPr id="20" name="Text 18"/>
          <p:cNvSpPr/>
          <p:nvPr/>
        </p:nvSpPr>
        <p:spPr>
          <a:xfrm>
            <a:off x="5696712" y="2185416"/>
            <a:ext cx="18196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AFTER DROP</a:t>
            </a:r>
            <a:endParaRPr lang="en-US" sz="850" dirty="0"/>
          </a:p>
        </p:txBody>
      </p:sp>
      <p:sp>
        <p:nvSpPr>
          <p:cNvPr id="21" name="Text 19"/>
          <p:cNvSpPr/>
          <p:nvPr/>
        </p:nvSpPr>
        <p:spPr>
          <a:xfrm>
            <a:off x="5696712" y="2368296"/>
            <a:ext cx="18196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27</a:t>
            </a:r>
            <a:endParaRPr lang="en-US" sz="2000" dirty="0"/>
          </a:p>
        </p:txBody>
      </p:sp>
      <p:sp>
        <p:nvSpPr>
          <p:cNvPr id="22" name="Text 20"/>
          <p:cNvSpPr/>
          <p:nvPr/>
        </p:nvSpPr>
        <p:spPr>
          <a:xfrm>
            <a:off x="5696712" y="2916936"/>
            <a:ext cx="18196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Core working dataset</a:t>
            </a:r>
            <a:endParaRPr lang="en-US" sz="850" dirty="0"/>
          </a:p>
        </p:txBody>
      </p:sp>
      <p:sp>
        <p:nvSpPr>
          <p:cNvPr id="23" name="Shape 21"/>
          <p:cNvSpPr/>
          <p:nvPr/>
        </p:nvSpPr>
        <p:spPr>
          <a:xfrm>
            <a:off x="7863840" y="2057400"/>
            <a:ext cx="2148840" cy="1078992"/>
          </a:xfrm>
          <a:prstGeom prst="roundRect">
            <a:avLst>
              <a:gd name="adj" fmla="val 6780"/>
            </a:avLst>
          </a:prstGeom>
          <a:solidFill>
            <a:srgbClr val="F7E1D9"/>
          </a:solidFill>
          <a:ln w="12700">
            <a:solidFill>
              <a:srgbClr val="F7E1D9">
                <a:alpha val="0"/>
              </a:srgbClr>
            </a:solidFill>
            <a:prstDash val="solid"/>
          </a:ln>
        </p:spPr>
      </p:sp>
      <p:sp>
        <p:nvSpPr>
          <p:cNvPr id="24" name="Text 22"/>
          <p:cNvSpPr/>
          <p:nvPr/>
        </p:nvSpPr>
        <p:spPr>
          <a:xfrm>
            <a:off x="8028432" y="2185416"/>
            <a:ext cx="18196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DATA TYPE</a:t>
            </a:r>
            <a:endParaRPr lang="en-US" sz="850" dirty="0"/>
          </a:p>
        </p:txBody>
      </p:sp>
      <p:sp>
        <p:nvSpPr>
          <p:cNvPr id="25" name="Text 23"/>
          <p:cNvSpPr/>
          <p:nvPr/>
        </p:nvSpPr>
        <p:spPr>
          <a:xfrm>
            <a:off x="8028432" y="2368296"/>
            <a:ext cx="18196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Mixed</a:t>
            </a:r>
            <a:endParaRPr lang="en-US" sz="2000" dirty="0"/>
          </a:p>
        </p:txBody>
      </p:sp>
      <p:sp>
        <p:nvSpPr>
          <p:cNvPr id="26" name="Text 24"/>
          <p:cNvSpPr/>
          <p:nvPr/>
        </p:nvSpPr>
        <p:spPr>
          <a:xfrm>
            <a:off x="8028432" y="2916936"/>
            <a:ext cx="18196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Structured + JSON fields</a:t>
            </a:r>
            <a:endParaRPr lang="en-US" sz="850" dirty="0"/>
          </a:p>
        </p:txBody>
      </p:sp>
      <p:sp>
        <p:nvSpPr>
          <p:cNvPr id="27" name="Text 25"/>
          <p:cNvSpPr/>
          <p:nvPr/>
        </p:nvSpPr>
        <p:spPr>
          <a:xfrm>
            <a:off x="896112" y="3657600"/>
            <a:ext cx="228600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Feature families</a:t>
            </a:r>
            <a:endParaRPr lang="en-US" sz="1700" dirty="0"/>
          </a:p>
        </p:txBody>
      </p:sp>
      <p:sp>
        <p:nvSpPr>
          <p:cNvPr id="28" name="Shape 26"/>
          <p:cNvSpPr/>
          <p:nvPr/>
        </p:nvSpPr>
        <p:spPr>
          <a:xfrm>
            <a:off x="914400" y="4069080"/>
            <a:ext cx="1234440" cy="384048"/>
          </a:xfrm>
          <a:prstGeom prst="roundRect">
            <a:avLst>
              <a:gd name="adj" fmla="val 14286"/>
            </a:avLst>
          </a:prstGeom>
          <a:solidFill>
            <a:srgbClr val="EFE4D0"/>
          </a:solidFill>
          <a:ln w="12700">
            <a:solidFill>
              <a:srgbClr val="EFE4D0">
                <a:alpha val="0"/>
              </a:srgbClr>
            </a:solidFill>
            <a:prstDash val="solid"/>
          </a:ln>
        </p:spPr>
      </p:sp>
      <p:sp>
        <p:nvSpPr>
          <p:cNvPr id="29" name="Text 27"/>
          <p:cNvSpPr/>
          <p:nvPr/>
        </p:nvSpPr>
        <p:spPr>
          <a:xfrm>
            <a:off x="91440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Pricing</a:t>
            </a:r>
            <a:endParaRPr lang="en-US" sz="1050" dirty="0"/>
          </a:p>
        </p:txBody>
      </p:sp>
      <p:sp>
        <p:nvSpPr>
          <p:cNvPr id="30" name="Shape 28"/>
          <p:cNvSpPr/>
          <p:nvPr/>
        </p:nvSpPr>
        <p:spPr>
          <a:xfrm>
            <a:off x="2423160" y="4069080"/>
            <a:ext cx="1234440" cy="384048"/>
          </a:xfrm>
          <a:prstGeom prst="roundRect">
            <a:avLst>
              <a:gd name="adj" fmla="val 14286"/>
            </a:avLst>
          </a:prstGeom>
          <a:solidFill>
            <a:srgbClr val="DCEFE9"/>
          </a:solidFill>
          <a:ln w="12700">
            <a:solidFill>
              <a:srgbClr val="DCEFE9">
                <a:alpha val="0"/>
              </a:srgbClr>
            </a:solidFill>
            <a:prstDash val="solid"/>
          </a:ln>
        </p:spPr>
      </p:sp>
      <p:sp>
        <p:nvSpPr>
          <p:cNvPr id="31" name="Text 29"/>
          <p:cNvSpPr/>
          <p:nvPr/>
        </p:nvSpPr>
        <p:spPr>
          <a:xfrm>
            <a:off x="242316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Seller</a:t>
            </a:r>
            <a:endParaRPr lang="en-US" sz="1050" dirty="0"/>
          </a:p>
        </p:txBody>
      </p:sp>
      <p:sp>
        <p:nvSpPr>
          <p:cNvPr id="32" name="Shape 30"/>
          <p:cNvSpPr/>
          <p:nvPr/>
        </p:nvSpPr>
        <p:spPr>
          <a:xfrm>
            <a:off x="3840480" y="4069080"/>
            <a:ext cx="1234440" cy="384048"/>
          </a:xfrm>
          <a:prstGeom prst="roundRect">
            <a:avLst>
              <a:gd name="adj" fmla="val 14286"/>
            </a:avLst>
          </a:prstGeom>
          <a:solidFill>
            <a:srgbClr val="DCEAF2"/>
          </a:solidFill>
          <a:ln w="12700">
            <a:solidFill>
              <a:srgbClr val="DCEAF2">
                <a:alpha val="0"/>
              </a:srgbClr>
            </a:solidFill>
            <a:prstDash val="solid"/>
          </a:ln>
        </p:spPr>
      </p:sp>
      <p:sp>
        <p:nvSpPr>
          <p:cNvPr id="33" name="Text 31"/>
          <p:cNvSpPr/>
          <p:nvPr/>
        </p:nvSpPr>
        <p:spPr>
          <a:xfrm>
            <a:off x="384048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Inventory</a:t>
            </a:r>
            <a:endParaRPr lang="en-US" sz="1050" dirty="0"/>
          </a:p>
        </p:txBody>
      </p:sp>
      <p:sp>
        <p:nvSpPr>
          <p:cNvPr id="34" name="Shape 32"/>
          <p:cNvSpPr/>
          <p:nvPr/>
        </p:nvSpPr>
        <p:spPr>
          <a:xfrm>
            <a:off x="5486400" y="4069080"/>
            <a:ext cx="1234440" cy="384048"/>
          </a:xfrm>
          <a:prstGeom prst="roundRect">
            <a:avLst>
              <a:gd name="adj" fmla="val 14286"/>
            </a:avLst>
          </a:prstGeom>
          <a:solidFill>
            <a:srgbClr val="F7E1D9"/>
          </a:solidFill>
          <a:ln w="12700">
            <a:solidFill>
              <a:srgbClr val="F7E1D9">
                <a:alpha val="0"/>
              </a:srgbClr>
            </a:solidFill>
            <a:prstDash val="solid"/>
          </a:ln>
        </p:spPr>
      </p:sp>
      <p:sp>
        <p:nvSpPr>
          <p:cNvPr id="35" name="Text 33"/>
          <p:cNvSpPr/>
          <p:nvPr/>
        </p:nvSpPr>
        <p:spPr>
          <a:xfrm>
            <a:off x="548640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Shipping</a:t>
            </a:r>
            <a:endParaRPr lang="en-US" sz="1050" dirty="0"/>
          </a:p>
        </p:txBody>
      </p:sp>
      <p:sp>
        <p:nvSpPr>
          <p:cNvPr id="36" name="Shape 34"/>
          <p:cNvSpPr/>
          <p:nvPr/>
        </p:nvSpPr>
        <p:spPr>
          <a:xfrm>
            <a:off x="7086600" y="4069080"/>
            <a:ext cx="1234440" cy="384048"/>
          </a:xfrm>
          <a:prstGeom prst="roundRect">
            <a:avLst>
              <a:gd name="adj" fmla="val 14286"/>
            </a:avLst>
          </a:prstGeom>
          <a:solidFill>
            <a:srgbClr val="EFE4D0"/>
          </a:solidFill>
          <a:ln w="12700">
            <a:solidFill>
              <a:srgbClr val="EFE4D0">
                <a:alpha val="0"/>
              </a:srgbClr>
            </a:solidFill>
            <a:prstDash val="solid"/>
          </a:ln>
        </p:spPr>
      </p:sp>
      <p:sp>
        <p:nvSpPr>
          <p:cNvPr id="37" name="Text 35"/>
          <p:cNvSpPr/>
          <p:nvPr/>
        </p:nvSpPr>
        <p:spPr>
          <a:xfrm>
            <a:off x="708660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Listing type</a:t>
            </a:r>
            <a:endParaRPr lang="en-US" sz="1050" dirty="0"/>
          </a:p>
        </p:txBody>
      </p:sp>
      <p:sp>
        <p:nvSpPr>
          <p:cNvPr id="38" name="Shape 36"/>
          <p:cNvSpPr/>
          <p:nvPr/>
        </p:nvSpPr>
        <p:spPr>
          <a:xfrm>
            <a:off x="8732520" y="4069080"/>
            <a:ext cx="1234440" cy="384048"/>
          </a:xfrm>
          <a:prstGeom prst="roundRect">
            <a:avLst>
              <a:gd name="adj" fmla="val 14286"/>
            </a:avLst>
          </a:prstGeom>
          <a:solidFill>
            <a:srgbClr val="DCEFE9"/>
          </a:solidFill>
          <a:ln w="12700">
            <a:solidFill>
              <a:srgbClr val="DCEFE9">
                <a:alpha val="0"/>
              </a:srgbClr>
            </a:solidFill>
            <a:prstDash val="solid"/>
          </a:ln>
        </p:spPr>
      </p:sp>
      <p:sp>
        <p:nvSpPr>
          <p:cNvPr id="39" name="Text 37"/>
          <p:cNvSpPr/>
          <p:nvPr/>
        </p:nvSpPr>
        <p:spPr>
          <a:xfrm>
            <a:off x="8732520" y="4178808"/>
            <a:ext cx="1234440" cy="137160"/>
          </a:xfrm>
          <a:prstGeom prst="rect">
            <a:avLst/>
          </a:prstGeom>
          <a:noFill/>
          <a:ln/>
        </p:spPr>
        <p:txBody>
          <a:bodyPr wrap="square" lIns="0" tIns="0" rIns="0" bIns="0" rtlCol="0" anchor="ctr"/>
          <a:lstStyle/>
          <a:p>
            <a:pPr algn="ctr" indent="0" marL="0">
              <a:buNone/>
            </a:pPr>
            <a:r>
              <a:rPr lang="en-US" sz="1050" b="1" dirty="0">
                <a:solidFill>
                  <a:srgbClr val="1B2A41"/>
                </a:solidFill>
                <a:latin typeface="Aptos" pitchFamily="34" charset="0"/>
                <a:ea typeface="Aptos" pitchFamily="34" charset="-122"/>
                <a:cs typeface="Aptos" pitchFamily="34" charset="-120"/>
              </a:rPr>
              <a:t>Nested JSON</a:t>
            </a:r>
            <a:endParaRPr lang="en-US" sz="1050" dirty="0"/>
          </a:p>
        </p:txBody>
      </p:sp>
      <p:sp>
        <p:nvSpPr>
          <p:cNvPr id="40" name="Text 38"/>
          <p:cNvSpPr/>
          <p:nvPr/>
        </p:nvSpPr>
        <p:spPr>
          <a:xfrm>
            <a:off x="896112" y="4983480"/>
            <a:ext cx="210312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Condition split</a:t>
            </a:r>
            <a:endParaRPr lang="en-US" sz="1700" dirty="0"/>
          </a:p>
        </p:txBody>
      </p:sp>
      <p:sp>
        <p:nvSpPr>
          <p:cNvPr id="41" name="Shape 39"/>
          <p:cNvSpPr/>
          <p:nvPr/>
        </p:nvSpPr>
        <p:spPr>
          <a:xfrm>
            <a:off x="914400" y="5394960"/>
            <a:ext cx="8961120" cy="310896"/>
          </a:xfrm>
          <a:prstGeom prst="roundRect">
            <a:avLst>
              <a:gd name="adj" fmla="val 17647"/>
            </a:avLst>
          </a:prstGeom>
          <a:solidFill>
            <a:srgbClr val="D8D1C4"/>
          </a:solidFill>
          <a:ln w="12700">
            <a:solidFill>
              <a:srgbClr val="D8D1C4">
                <a:alpha val="0"/>
              </a:srgbClr>
            </a:solidFill>
            <a:prstDash val="solid"/>
          </a:ln>
        </p:spPr>
      </p:sp>
      <p:sp>
        <p:nvSpPr>
          <p:cNvPr id="42" name="Shape 40"/>
          <p:cNvSpPr/>
          <p:nvPr/>
        </p:nvSpPr>
        <p:spPr>
          <a:xfrm>
            <a:off x="914400" y="5394960"/>
            <a:ext cx="4818888" cy="310896"/>
          </a:xfrm>
          <a:prstGeom prst="roundRect">
            <a:avLst>
              <a:gd name="adj" fmla="val 17647"/>
            </a:avLst>
          </a:prstGeom>
          <a:solidFill>
            <a:srgbClr val="1F5C4D"/>
          </a:solidFill>
          <a:ln w="12700">
            <a:solidFill>
              <a:srgbClr val="1F5C4D">
                <a:alpha val="0"/>
              </a:srgbClr>
            </a:solidFill>
            <a:prstDash val="solid"/>
          </a:ln>
        </p:spPr>
      </p:sp>
      <p:sp>
        <p:nvSpPr>
          <p:cNvPr id="43" name="Shape 41"/>
          <p:cNvSpPr/>
          <p:nvPr/>
        </p:nvSpPr>
        <p:spPr>
          <a:xfrm>
            <a:off x="5733288" y="5394960"/>
            <a:ext cx="4142232" cy="310896"/>
          </a:xfrm>
          <a:prstGeom prst="roundRect">
            <a:avLst>
              <a:gd name="adj" fmla="val 17647"/>
            </a:avLst>
          </a:prstGeom>
          <a:solidFill>
            <a:srgbClr val="E76F51"/>
          </a:solidFill>
          <a:ln w="12700">
            <a:solidFill>
              <a:srgbClr val="E76F51">
                <a:alpha val="0"/>
              </a:srgbClr>
            </a:solidFill>
            <a:prstDash val="solid"/>
          </a:ln>
        </p:spPr>
      </p:sp>
      <p:sp>
        <p:nvSpPr>
          <p:cNvPr id="44" name="Text 42"/>
          <p:cNvSpPr/>
          <p:nvPr/>
        </p:nvSpPr>
        <p:spPr>
          <a:xfrm>
            <a:off x="1051560" y="5532120"/>
            <a:ext cx="2377440" cy="164592"/>
          </a:xfrm>
          <a:prstGeom prst="rect">
            <a:avLst/>
          </a:prstGeom>
          <a:noFill/>
          <a:ln/>
        </p:spPr>
        <p:txBody>
          <a:bodyPr wrap="square" lIns="0" tIns="0" rIns="0" bIns="0" rtlCol="0" anchor="ctr"/>
          <a:lstStyle/>
          <a:p>
            <a:pPr indent="0" marL="0">
              <a:buNone/>
            </a:pPr>
            <a:r>
              <a:rPr lang="en-US" sz="1100" b="1" dirty="0">
                <a:solidFill>
                  <a:srgbClr val="1F5C4D"/>
                </a:solidFill>
                <a:latin typeface="Aptos" pitchFamily="34" charset="0"/>
                <a:ea typeface="Aptos" pitchFamily="34" charset="-122"/>
                <a:cs typeface="Aptos" pitchFamily="34" charset="-120"/>
              </a:rPr>
              <a:t>New: 53,758 (53.8%)</a:t>
            </a:r>
            <a:endParaRPr lang="en-US" sz="1100" dirty="0"/>
          </a:p>
        </p:txBody>
      </p:sp>
      <p:sp>
        <p:nvSpPr>
          <p:cNvPr id="45" name="Text 43"/>
          <p:cNvSpPr/>
          <p:nvPr/>
        </p:nvSpPr>
        <p:spPr>
          <a:xfrm>
            <a:off x="7680960" y="5532120"/>
            <a:ext cx="2103120" cy="164592"/>
          </a:xfrm>
          <a:prstGeom prst="rect">
            <a:avLst/>
          </a:prstGeom>
          <a:noFill/>
          <a:ln/>
        </p:spPr>
        <p:txBody>
          <a:bodyPr wrap="square" lIns="0" tIns="0" rIns="0" bIns="0" rtlCol="0" anchor="ctr"/>
          <a:lstStyle/>
          <a:p>
            <a:pPr indent="0" marL="0">
              <a:buNone/>
            </a:pPr>
            <a:r>
              <a:rPr lang="en-US" sz="1100" b="1" dirty="0">
                <a:solidFill>
                  <a:srgbClr val="E76F51"/>
                </a:solidFill>
                <a:latin typeface="Aptos" pitchFamily="34" charset="0"/>
                <a:ea typeface="Aptos" pitchFamily="34" charset="-122"/>
                <a:cs typeface="Aptos" pitchFamily="34" charset="-120"/>
              </a:rPr>
              <a:t>Used: 46,242 (46.2%)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04</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KEY CHALLENGES</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Real data comes with real production messiness</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main challenge was not model choice alone, but making the data usable without cheating.</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2</a:t>
            </a:r>
            <a:endParaRPr lang="en-US" sz="1000" dirty="0"/>
          </a:p>
        </p:txBody>
      </p:sp>
      <p:sp>
        <p:nvSpPr>
          <p:cNvPr id="11" name="Shape 9"/>
          <p:cNvSpPr/>
          <p:nvPr/>
        </p:nvSpPr>
        <p:spPr>
          <a:xfrm>
            <a:off x="868680" y="2148840"/>
            <a:ext cx="5029200" cy="1325880"/>
          </a:xfrm>
          <a:prstGeom prst="roundRect">
            <a:avLst>
              <a:gd name="adj" fmla="val 5517"/>
            </a:avLst>
          </a:prstGeom>
          <a:solidFill>
            <a:srgbClr val="EFE4D0"/>
          </a:solidFill>
          <a:ln w="12700">
            <a:solidFill>
              <a:srgbClr val="EFE4D0">
                <a:alpha val="0"/>
              </a:srgbClr>
            </a:solidFill>
            <a:prstDash val="solid"/>
          </a:ln>
        </p:spPr>
      </p:sp>
      <p:sp>
        <p:nvSpPr>
          <p:cNvPr id="12" name="Text 10"/>
          <p:cNvSpPr/>
          <p:nvPr/>
        </p:nvSpPr>
        <p:spPr>
          <a:xfrm>
            <a:off x="1033272" y="2331720"/>
            <a:ext cx="2103120" cy="201168"/>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Skewed price</a:t>
            </a:r>
            <a:endParaRPr lang="en-US" sz="1600" dirty="0"/>
          </a:p>
        </p:txBody>
      </p:sp>
      <p:sp>
        <p:nvSpPr>
          <p:cNvPr id="13" name="Text 11"/>
          <p:cNvSpPr/>
          <p:nvPr/>
        </p:nvSpPr>
        <p:spPr>
          <a:xfrm>
            <a:off x="1033272" y="2651760"/>
            <a:ext cx="4617720" cy="548640"/>
          </a:xfrm>
          <a:prstGeom prst="rect">
            <a:avLst/>
          </a:prstGeom>
          <a:noFill/>
          <a:ln/>
        </p:spPr>
        <p:txBody>
          <a:bodyPr wrap="square" lIns="0" tIns="0" rIns="0" bIns="0" rtlCol="0" anchor="ctr"/>
          <a:lstStyle/>
          <a:p>
            <a:pPr indent="0" marL="0">
              <a:buNone/>
            </a:pPr>
            <a:r>
              <a:rPr lang="en-US" sz="1300" dirty="0">
                <a:solidFill>
                  <a:srgbClr val="1B2A41"/>
                </a:solidFill>
                <a:latin typeface="Aptos" pitchFamily="34" charset="0"/>
                <a:ea typeface="Aptos" pitchFamily="34" charset="-122"/>
                <a:cs typeface="Aptos" pitchFamily="34" charset="-120"/>
              </a:rPr>
              <a:t>Median price is 250, but the maximum reaches 2.22B. The tail is extreme.</a:t>
            </a:r>
            <a:endParaRPr lang="en-US" sz="1300" dirty="0"/>
          </a:p>
        </p:txBody>
      </p:sp>
      <p:sp>
        <p:nvSpPr>
          <p:cNvPr id="14" name="Shape 12"/>
          <p:cNvSpPr/>
          <p:nvPr/>
        </p:nvSpPr>
        <p:spPr>
          <a:xfrm>
            <a:off x="6080760" y="2148840"/>
            <a:ext cx="5029200" cy="1325880"/>
          </a:xfrm>
          <a:prstGeom prst="roundRect">
            <a:avLst>
              <a:gd name="adj" fmla="val 5517"/>
            </a:avLst>
          </a:prstGeom>
          <a:solidFill>
            <a:srgbClr val="DCEFE9"/>
          </a:solidFill>
          <a:ln w="12700">
            <a:solidFill>
              <a:srgbClr val="DCEFE9">
                <a:alpha val="0"/>
              </a:srgbClr>
            </a:solidFill>
            <a:prstDash val="solid"/>
          </a:ln>
        </p:spPr>
      </p:sp>
      <p:sp>
        <p:nvSpPr>
          <p:cNvPr id="15" name="Text 13"/>
          <p:cNvSpPr/>
          <p:nvPr/>
        </p:nvSpPr>
        <p:spPr>
          <a:xfrm>
            <a:off x="6245352" y="2331720"/>
            <a:ext cx="2103120" cy="201168"/>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High cardinality</a:t>
            </a:r>
            <a:endParaRPr lang="en-US" sz="1600" dirty="0"/>
          </a:p>
        </p:txBody>
      </p:sp>
      <p:sp>
        <p:nvSpPr>
          <p:cNvPr id="16" name="Text 14"/>
          <p:cNvSpPr/>
          <p:nvPr/>
        </p:nvSpPr>
        <p:spPr>
          <a:xfrm>
            <a:off x="6245352" y="2651760"/>
            <a:ext cx="4617720" cy="548640"/>
          </a:xfrm>
          <a:prstGeom prst="rect">
            <a:avLst/>
          </a:prstGeom>
          <a:noFill/>
          <a:ln/>
        </p:spPr>
        <p:txBody>
          <a:bodyPr wrap="square" lIns="0" tIns="0" rIns="0" bIns="0" rtlCol="0" anchor="ctr"/>
          <a:lstStyle/>
          <a:p>
            <a:pPr indent="0" marL="0">
              <a:buNone/>
            </a:pPr>
            <a:r>
              <a:rPr lang="en-US" sz="1300" dirty="0">
                <a:solidFill>
                  <a:srgbClr val="1B2A41"/>
                </a:solidFill>
                <a:latin typeface="Aptos" pitchFamily="34" charset="0"/>
                <a:ea typeface="Aptos" pitchFamily="34" charset="-122"/>
                <a:cs typeface="Aptos" pitchFamily="34" charset="-120"/>
              </a:rPr>
              <a:t>category_id explodes to 10,907 unique values, making direct encoding difficult.</a:t>
            </a:r>
            <a:endParaRPr lang="en-US" sz="1300" dirty="0"/>
          </a:p>
        </p:txBody>
      </p:sp>
      <p:sp>
        <p:nvSpPr>
          <p:cNvPr id="17" name="Shape 15"/>
          <p:cNvSpPr/>
          <p:nvPr/>
        </p:nvSpPr>
        <p:spPr>
          <a:xfrm>
            <a:off x="868680" y="3840480"/>
            <a:ext cx="5029200" cy="1325880"/>
          </a:xfrm>
          <a:prstGeom prst="roundRect">
            <a:avLst>
              <a:gd name="adj" fmla="val 5517"/>
            </a:avLst>
          </a:prstGeom>
          <a:solidFill>
            <a:srgbClr val="DCEAF2"/>
          </a:solidFill>
          <a:ln w="12700">
            <a:solidFill>
              <a:srgbClr val="DCEAF2">
                <a:alpha val="0"/>
              </a:srgbClr>
            </a:solidFill>
            <a:prstDash val="solid"/>
          </a:ln>
        </p:spPr>
      </p:sp>
      <p:sp>
        <p:nvSpPr>
          <p:cNvPr id="18" name="Text 16"/>
          <p:cNvSpPr/>
          <p:nvPr/>
        </p:nvSpPr>
        <p:spPr>
          <a:xfrm>
            <a:off x="1033272" y="4023360"/>
            <a:ext cx="2103120" cy="201168"/>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Data leakage</a:t>
            </a:r>
            <a:endParaRPr lang="en-US" sz="1600" dirty="0"/>
          </a:p>
        </p:txBody>
      </p:sp>
      <p:sp>
        <p:nvSpPr>
          <p:cNvPr id="19" name="Text 17"/>
          <p:cNvSpPr/>
          <p:nvPr/>
        </p:nvSpPr>
        <p:spPr>
          <a:xfrm>
            <a:off x="1033272" y="4343400"/>
            <a:ext cx="4617720" cy="548640"/>
          </a:xfrm>
          <a:prstGeom prst="rect">
            <a:avLst/>
          </a:prstGeom>
          <a:noFill/>
          <a:ln/>
        </p:spPr>
        <p:txBody>
          <a:bodyPr wrap="square" lIns="0" tIns="0" rIns="0" bIns="0" rtlCol="0" anchor="ctr"/>
          <a:lstStyle/>
          <a:p>
            <a:pPr indent="0" marL="0">
              <a:buNone/>
            </a:pPr>
            <a:r>
              <a:rPr lang="en-US" sz="1300" dirty="0">
                <a:solidFill>
                  <a:srgbClr val="1B2A41"/>
                </a:solidFill>
                <a:latin typeface="Aptos" pitchFamily="34" charset="0"/>
                <a:ea typeface="Aptos" pitchFamily="34" charset="-122"/>
                <a:cs typeface="Aptos" pitchFamily="34" charset="-120"/>
              </a:rPr>
              <a:t>base_price is almost a direct copy of price with correlation equal to 1.00.</a:t>
            </a:r>
            <a:endParaRPr lang="en-US" sz="1300" dirty="0"/>
          </a:p>
        </p:txBody>
      </p:sp>
      <p:sp>
        <p:nvSpPr>
          <p:cNvPr id="20" name="Shape 18"/>
          <p:cNvSpPr/>
          <p:nvPr/>
        </p:nvSpPr>
        <p:spPr>
          <a:xfrm>
            <a:off x="6080760" y="3840480"/>
            <a:ext cx="5029200" cy="1325880"/>
          </a:xfrm>
          <a:prstGeom prst="roundRect">
            <a:avLst>
              <a:gd name="adj" fmla="val 5517"/>
            </a:avLst>
          </a:prstGeom>
          <a:solidFill>
            <a:srgbClr val="F7E1D9"/>
          </a:solidFill>
          <a:ln w="12700">
            <a:solidFill>
              <a:srgbClr val="F7E1D9">
                <a:alpha val="0"/>
              </a:srgbClr>
            </a:solidFill>
            <a:prstDash val="solid"/>
          </a:ln>
        </p:spPr>
      </p:sp>
      <p:sp>
        <p:nvSpPr>
          <p:cNvPr id="21" name="Text 19"/>
          <p:cNvSpPr/>
          <p:nvPr/>
        </p:nvSpPr>
        <p:spPr>
          <a:xfrm>
            <a:off x="6245352" y="4023360"/>
            <a:ext cx="2103120" cy="201168"/>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Nested JSON</a:t>
            </a:r>
            <a:endParaRPr lang="en-US" sz="1600" dirty="0"/>
          </a:p>
        </p:txBody>
      </p:sp>
      <p:sp>
        <p:nvSpPr>
          <p:cNvPr id="22" name="Text 20"/>
          <p:cNvSpPr/>
          <p:nvPr/>
        </p:nvSpPr>
        <p:spPr>
          <a:xfrm>
            <a:off x="6245352" y="4343400"/>
            <a:ext cx="4617720" cy="548640"/>
          </a:xfrm>
          <a:prstGeom prst="rect">
            <a:avLst/>
          </a:prstGeom>
          <a:noFill/>
          <a:ln/>
        </p:spPr>
        <p:txBody>
          <a:bodyPr wrap="square" lIns="0" tIns="0" rIns="0" bIns="0" rtlCol="0" anchor="ctr"/>
          <a:lstStyle/>
          <a:p>
            <a:pPr indent="0" marL="0">
              <a:buNone/>
            </a:pPr>
            <a:r>
              <a:rPr lang="en-US" sz="1300" dirty="0">
                <a:solidFill>
                  <a:srgbClr val="1B2A41"/>
                </a:solidFill>
                <a:latin typeface="Aptos" pitchFamily="34" charset="0"/>
                <a:ea typeface="Aptos" pitchFamily="34" charset="-122"/>
                <a:cs typeface="Aptos" pitchFamily="34" charset="-120"/>
              </a:rPr>
              <a:t>seller_address, shipping, tags, and attributes had to be unpacked into usable signals.</a:t>
            </a:r>
            <a:endParaRPr lang="en-US" sz="1300" dirty="0"/>
          </a:p>
        </p:txBody>
      </p:sp>
      <p:sp>
        <p:nvSpPr>
          <p:cNvPr id="23" name="Shape 21"/>
          <p:cNvSpPr/>
          <p:nvPr/>
        </p:nvSpPr>
        <p:spPr>
          <a:xfrm>
            <a:off x="777240" y="5486400"/>
            <a:ext cx="10698480" cy="658368"/>
          </a:xfrm>
          <a:prstGeom prst="roundRect">
            <a:avLst>
              <a:gd name="adj" fmla="val 11111"/>
            </a:avLst>
          </a:prstGeom>
          <a:solidFill>
            <a:srgbClr val="F7E1D9"/>
          </a:solidFill>
          <a:ln w="12700">
            <a:solidFill>
              <a:srgbClr val="F7E1D9">
                <a:alpha val="0"/>
              </a:srgbClr>
            </a:solidFill>
            <a:prstDash val="solid"/>
          </a:ln>
        </p:spPr>
      </p:sp>
      <p:sp>
        <p:nvSpPr>
          <p:cNvPr id="24" name="Text 22"/>
          <p:cNvSpPr/>
          <p:nvPr/>
        </p:nvSpPr>
        <p:spPr>
          <a:xfrm>
            <a:off x="1005840" y="562356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This dataset is not clean - it reflects real production complexity.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05</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DATA PREPARATION</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Feature engineering turned raw marketplace traces into model-ready signals</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Most of the lift came from designing meaningful features, not from using the fanciest algorithm.</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2</a:t>
            </a:r>
            <a:endParaRPr lang="en-US" sz="1000" dirty="0"/>
          </a:p>
        </p:txBody>
      </p:sp>
      <p:sp>
        <p:nvSpPr>
          <p:cNvPr id="11" name="Text 9"/>
          <p:cNvSpPr/>
          <p:nvPr/>
        </p:nvSpPr>
        <p:spPr>
          <a:xfrm>
            <a:off x="868680" y="2011680"/>
            <a:ext cx="182880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Pipeline</a:t>
            </a:r>
            <a:endParaRPr lang="en-US" sz="1700" dirty="0"/>
          </a:p>
        </p:txBody>
      </p:sp>
      <p:sp>
        <p:nvSpPr>
          <p:cNvPr id="12" name="Shape 10"/>
          <p:cNvSpPr/>
          <p:nvPr/>
        </p:nvSpPr>
        <p:spPr>
          <a:xfrm>
            <a:off x="914400" y="2404872"/>
            <a:ext cx="310896" cy="310896"/>
          </a:xfrm>
          <a:prstGeom prst="ellipse">
            <a:avLst/>
          </a:prstGeom>
          <a:solidFill>
            <a:srgbClr val="1F5C4D"/>
          </a:solidFill>
          <a:ln w="12700">
            <a:solidFill>
              <a:srgbClr val="1F5C4D">
                <a:alpha val="0"/>
              </a:srgbClr>
            </a:solidFill>
            <a:prstDash val="solid"/>
          </a:ln>
        </p:spPr>
      </p:sp>
      <p:sp>
        <p:nvSpPr>
          <p:cNvPr id="13" name="Text 11"/>
          <p:cNvSpPr/>
          <p:nvPr/>
        </p:nvSpPr>
        <p:spPr>
          <a:xfrm>
            <a:off x="914400" y="2468880"/>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4" name="Text 12"/>
          <p:cNvSpPr/>
          <p:nvPr/>
        </p:nvSpPr>
        <p:spPr>
          <a:xfrm>
            <a:off x="1353312" y="2423160"/>
            <a:ext cx="3886200" cy="201168"/>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Drop sparse and irrelevant fields.</a:t>
            </a:r>
            <a:endParaRPr lang="en-US" sz="1400" dirty="0"/>
          </a:p>
        </p:txBody>
      </p:sp>
      <p:sp>
        <p:nvSpPr>
          <p:cNvPr id="15" name="Shape 13"/>
          <p:cNvSpPr/>
          <p:nvPr/>
        </p:nvSpPr>
        <p:spPr>
          <a:xfrm>
            <a:off x="914400" y="3008376"/>
            <a:ext cx="310896" cy="310896"/>
          </a:xfrm>
          <a:prstGeom prst="ellipse">
            <a:avLst/>
          </a:prstGeom>
          <a:solidFill>
            <a:srgbClr val="1F5C4D"/>
          </a:solidFill>
          <a:ln w="12700">
            <a:solidFill>
              <a:srgbClr val="1F5C4D">
                <a:alpha val="0"/>
              </a:srgbClr>
            </a:solidFill>
            <a:prstDash val="solid"/>
          </a:ln>
        </p:spPr>
      </p:sp>
      <p:sp>
        <p:nvSpPr>
          <p:cNvPr id="16" name="Text 14"/>
          <p:cNvSpPr/>
          <p:nvPr/>
        </p:nvSpPr>
        <p:spPr>
          <a:xfrm>
            <a:off x="914400" y="3072384"/>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7" name="Text 15"/>
          <p:cNvSpPr/>
          <p:nvPr/>
        </p:nvSpPr>
        <p:spPr>
          <a:xfrm>
            <a:off x="1353312" y="3026664"/>
            <a:ext cx="3886200" cy="201168"/>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Parse seller and shipping JSON fields.</a:t>
            </a:r>
            <a:endParaRPr lang="en-US" sz="1400" dirty="0"/>
          </a:p>
        </p:txBody>
      </p:sp>
      <p:sp>
        <p:nvSpPr>
          <p:cNvPr id="18" name="Shape 16"/>
          <p:cNvSpPr/>
          <p:nvPr/>
        </p:nvSpPr>
        <p:spPr>
          <a:xfrm>
            <a:off x="914400" y="3611880"/>
            <a:ext cx="310896" cy="310896"/>
          </a:xfrm>
          <a:prstGeom prst="ellipse">
            <a:avLst/>
          </a:prstGeom>
          <a:solidFill>
            <a:srgbClr val="1F5C4D"/>
          </a:solidFill>
          <a:ln w="12700">
            <a:solidFill>
              <a:srgbClr val="1F5C4D">
                <a:alpha val="0"/>
              </a:srgbClr>
            </a:solidFill>
            <a:prstDash val="solid"/>
          </a:ln>
        </p:spPr>
      </p:sp>
      <p:sp>
        <p:nvSpPr>
          <p:cNvPr id="19" name="Text 17"/>
          <p:cNvSpPr/>
          <p:nvPr/>
        </p:nvSpPr>
        <p:spPr>
          <a:xfrm>
            <a:off x="914400" y="3675888"/>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0" name="Text 18"/>
          <p:cNvSpPr/>
          <p:nvPr/>
        </p:nvSpPr>
        <p:spPr>
          <a:xfrm>
            <a:off x="1353312" y="3630168"/>
            <a:ext cx="3886200" cy="201168"/>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Engineer listing_age_days and count-based features.</a:t>
            </a:r>
            <a:endParaRPr lang="en-US" sz="1400" dirty="0"/>
          </a:p>
        </p:txBody>
      </p:sp>
      <p:sp>
        <p:nvSpPr>
          <p:cNvPr id="21" name="Shape 19"/>
          <p:cNvSpPr/>
          <p:nvPr/>
        </p:nvSpPr>
        <p:spPr>
          <a:xfrm>
            <a:off x="914400" y="4215384"/>
            <a:ext cx="310896" cy="310896"/>
          </a:xfrm>
          <a:prstGeom prst="ellipse">
            <a:avLst/>
          </a:prstGeom>
          <a:solidFill>
            <a:srgbClr val="1F5C4D"/>
          </a:solidFill>
          <a:ln w="12700">
            <a:solidFill>
              <a:srgbClr val="1F5C4D">
                <a:alpha val="0"/>
              </a:srgbClr>
            </a:solidFill>
            <a:prstDash val="solid"/>
          </a:ln>
        </p:spPr>
      </p:sp>
      <p:sp>
        <p:nvSpPr>
          <p:cNvPr id="22" name="Text 20"/>
          <p:cNvSpPr/>
          <p:nvPr/>
        </p:nvSpPr>
        <p:spPr>
          <a:xfrm>
            <a:off x="914400" y="4279392"/>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23" name="Text 21"/>
          <p:cNvSpPr/>
          <p:nvPr/>
        </p:nvSpPr>
        <p:spPr>
          <a:xfrm>
            <a:off x="1353312" y="4233672"/>
            <a:ext cx="3886200" cy="201168"/>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Convert warranty into a binary signal.</a:t>
            </a:r>
            <a:endParaRPr lang="en-US" sz="1400" dirty="0"/>
          </a:p>
        </p:txBody>
      </p:sp>
      <p:sp>
        <p:nvSpPr>
          <p:cNvPr id="24" name="Shape 22"/>
          <p:cNvSpPr/>
          <p:nvPr/>
        </p:nvSpPr>
        <p:spPr>
          <a:xfrm>
            <a:off x="914400" y="4818888"/>
            <a:ext cx="310896" cy="310896"/>
          </a:xfrm>
          <a:prstGeom prst="ellipse">
            <a:avLst/>
          </a:prstGeom>
          <a:solidFill>
            <a:srgbClr val="1F5C4D"/>
          </a:solidFill>
          <a:ln w="12700">
            <a:solidFill>
              <a:srgbClr val="1F5C4D">
                <a:alpha val="0"/>
              </a:srgbClr>
            </a:solidFill>
            <a:prstDash val="solid"/>
          </a:ln>
        </p:spPr>
      </p:sp>
      <p:sp>
        <p:nvSpPr>
          <p:cNvPr id="25" name="Text 23"/>
          <p:cNvSpPr/>
          <p:nvPr/>
        </p:nvSpPr>
        <p:spPr>
          <a:xfrm>
            <a:off x="914400" y="488289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26" name="Text 24"/>
          <p:cNvSpPr/>
          <p:nvPr/>
        </p:nvSpPr>
        <p:spPr>
          <a:xfrm>
            <a:off x="1353312" y="4837176"/>
            <a:ext cx="3886200" cy="201168"/>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Remove leakage-heavy variables before training.</a:t>
            </a:r>
            <a:endParaRPr lang="en-US" sz="1400" dirty="0"/>
          </a:p>
        </p:txBody>
      </p:sp>
      <p:sp>
        <p:nvSpPr>
          <p:cNvPr id="27" name="Shape 25"/>
          <p:cNvSpPr/>
          <p:nvPr/>
        </p:nvSpPr>
        <p:spPr>
          <a:xfrm>
            <a:off x="5989320" y="2057400"/>
            <a:ext cx="5120640" cy="3337560"/>
          </a:xfrm>
          <a:prstGeom prst="roundRect">
            <a:avLst>
              <a:gd name="adj" fmla="val 2192"/>
            </a:avLst>
          </a:prstGeom>
          <a:solidFill>
            <a:srgbClr val="FFFFFF"/>
          </a:solidFill>
          <a:ln w="12700">
            <a:solidFill>
              <a:srgbClr val="D8D1C4"/>
            </a:solidFill>
            <a:prstDash val="solid"/>
          </a:ln>
        </p:spPr>
      </p:sp>
      <p:sp>
        <p:nvSpPr>
          <p:cNvPr id="28" name="Text 26"/>
          <p:cNvSpPr/>
          <p:nvPr/>
        </p:nvSpPr>
        <p:spPr>
          <a:xfrm>
            <a:off x="6217920" y="2286000"/>
            <a:ext cx="228600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Engineered features</a:t>
            </a:r>
            <a:endParaRPr lang="en-US" sz="1700" dirty="0"/>
          </a:p>
        </p:txBody>
      </p:sp>
      <p:sp>
        <p:nvSpPr>
          <p:cNvPr id="29" name="Shape 27"/>
          <p:cNvSpPr/>
          <p:nvPr/>
        </p:nvSpPr>
        <p:spPr>
          <a:xfrm>
            <a:off x="6236208" y="2743200"/>
            <a:ext cx="1920240" cy="347472"/>
          </a:xfrm>
          <a:prstGeom prst="roundRect">
            <a:avLst>
              <a:gd name="adj" fmla="val 13158"/>
            </a:avLst>
          </a:prstGeom>
          <a:solidFill>
            <a:srgbClr val="DCEFE9"/>
          </a:solidFill>
          <a:ln w="12700">
            <a:solidFill>
              <a:srgbClr val="DCEFE9">
                <a:alpha val="0"/>
              </a:srgbClr>
            </a:solidFill>
            <a:prstDash val="solid"/>
          </a:ln>
        </p:spPr>
      </p:sp>
      <p:sp>
        <p:nvSpPr>
          <p:cNvPr id="30" name="Text 28"/>
          <p:cNvSpPr/>
          <p:nvPr/>
        </p:nvSpPr>
        <p:spPr>
          <a:xfrm>
            <a:off x="6236208" y="2843784"/>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listing_age_days</a:t>
            </a:r>
            <a:endParaRPr lang="en-US" sz="1030" dirty="0"/>
          </a:p>
        </p:txBody>
      </p:sp>
      <p:sp>
        <p:nvSpPr>
          <p:cNvPr id="31" name="Shape 29"/>
          <p:cNvSpPr/>
          <p:nvPr/>
        </p:nvSpPr>
        <p:spPr>
          <a:xfrm>
            <a:off x="8476488" y="2743200"/>
            <a:ext cx="1920240" cy="347472"/>
          </a:xfrm>
          <a:prstGeom prst="roundRect">
            <a:avLst>
              <a:gd name="adj" fmla="val 13158"/>
            </a:avLst>
          </a:prstGeom>
          <a:solidFill>
            <a:srgbClr val="DCEAF2"/>
          </a:solidFill>
          <a:ln w="12700">
            <a:solidFill>
              <a:srgbClr val="DCEAF2">
                <a:alpha val="0"/>
              </a:srgbClr>
            </a:solidFill>
            <a:prstDash val="solid"/>
          </a:ln>
        </p:spPr>
      </p:sp>
      <p:sp>
        <p:nvSpPr>
          <p:cNvPr id="32" name="Text 30"/>
          <p:cNvSpPr/>
          <p:nvPr/>
        </p:nvSpPr>
        <p:spPr>
          <a:xfrm>
            <a:off x="8476488" y="2843784"/>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shipping_free</a:t>
            </a:r>
            <a:endParaRPr lang="en-US" sz="1030" dirty="0"/>
          </a:p>
        </p:txBody>
      </p:sp>
      <p:sp>
        <p:nvSpPr>
          <p:cNvPr id="33" name="Shape 31"/>
          <p:cNvSpPr/>
          <p:nvPr/>
        </p:nvSpPr>
        <p:spPr>
          <a:xfrm>
            <a:off x="6236208" y="3255264"/>
            <a:ext cx="1920240" cy="347472"/>
          </a:xfrm>
          <a:prstGeom prst="roundRect">
            <a:avLst>
              <a:gd name="adj" fmla="val 13158"/>
            </a:avLst>
          </a:prstGeom>
          <a:solidFill>
            <a:srgbClr val="DCEFE9"/>
          </a:solidFill>
          <a:ln w="12700">
            <a:solidFill>
              <a:srgbClr val="DCEFE9">
                <a:alpha val="0"/>
              </a:srgbClr>
            </a:solidFill>
            <a:prstDash val="solid"/>
          </a:ln>
        </p:spPr>
      </p:sp>
      <p:sp>
        <p:nvSpPr>
          <p:cNvPr id="34" name="Text 32"/>
          <p:cNvSpPr/>
          <p:nvPr/>
        </p:nvSpPr>
        <p:spPr>
          <a:xfrm>
            <a:off x="6236208" y="3355848"/>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shipping_pickup</a:t>
            </a:r>
            <a:endParaRPr lang="en-US" sz="1030" dirty="0"/>
          </a:p>
        </p:txBody>
      </p:sp>
      <p:sp>
        <p:nvSpPr>
          <p:cNvPr id="35" name="Shape 33"/>
          <p:cNvSpPr/>
          <p:nvPr/>
        </p:nvSpPr>
        <p:spPr>
          <a:xfrm>
            <a:off x="8476488" y="3255264"/>
            <a:ext cx="1920240" cy="347472"/>
          </a:xfrm>
          <a:prstGeom prst="roundRect">
            <a:avLst>
              <a:gd name="adj" fmla="val 13158"/>
            </a:avLst>
          </a:prstGeom>
          <a:solidFill>
            <a:srgbClr val="DCEAF2"/>
          </a:solidFill>
          <a:ln w="12700">
            <a:solidFill>
              <a:srgbClr val="DCEAF2">
                <a:alpha val="0"/>
              </a:srgbClr>
            </a:solidFill>
            <a:prstDash val="solid"/>
          </a:ln>
        </p:spPr>
      </p:sp>
      <p:sp>
        <p:nvSpPr>
          <p:cNvPr id="36" name="Text 34"/>
          <p:cNvSpPr/>
          <p:nvPr/>
        </p:nvSpPr>
        <p:spPr>
          <a:xfrm>
            <a:off x="8476488" y="3355848"/>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shipping_mode</a:t>
            </a:r>
            <a:endParaRPr lang="en-US" sz="1030" dirty="0"/>
          </a:p>
        </p:txBody>
      </p:sp>
      <p:sp>
        <p:nvSpPr>
          <p:cNvPr id="37" name="Shape 35"/>
          <p:cNvSpPr/>
          <p:nvPr/>
        </p:nvSpPr>
        <p:spPr>
          <a:xfrm>
            <a:off x="6236208" y="3767328"/>
            <a:ext cx="1920240" cy="347472"/>
          </a:xfrm>
          <a:prstGeom prst="roundRect">
            <a:avLst>
              <a:gd name="adj" fmla="val 13158"/>
            </a:avLst>
          </a:prstGeom>
          <a:solidFill>
            <a:srgbClr val="DCEFE9"/>
          </a:solidFill>
          <a:ln w="12700">
            <a:solidFill>
              <a:srgbClr val="DCEFE9">
                <a:alpha val="0"/>
              </a:srgbClr>
            </a:solidFill>
            <a:prstDash val="solid"/>
          </a:ln>
        </p:spPr>
      </p:sp>
      <p:sp>
        <p:nvSpPr>
          <p:cNvPr id="38" name="Text 36"/>
          <p:cNvSpPr/>
          <p:nvPr/>
        </p:nvSpPr>
        <p:spPr>
          <a:xfrm>
            <a:off x="6236208" y="3867912"/>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seller_state</a:t>
            </a:r>
            <a:endParaRPr lang="en-US" sz="1030" dirty="0"/>
          </a:p>
        </p:txBody>
      </p:sp>
      <p:sp>
        <p:nvSpPr>
          <p:cNvPr id="39" name="Shape 37"/>
          <p:cNvSpPr/>
          <p:nvPr/>
        </p:nvSpPr>
        <p:spPr>
          <a:xfrm>
            <a:off x="8476488" y="3767328"/>
            <a:ext cx="1920240" cy="347472"/>
          </a:xfrm>
          <a:prstGeom prst="roundRect">
            <a:avLst>
              <a:gd name="adj" fmla="val 13158"/>
            </a:avLst>
          </a:prstGeom>
          <a:solidFill>
            <a:srgbClr val="DCEAF2"/>
          </a:solidFill>
          <a:ln w="12700">
            <a:solidFill>
              <a:srgbClr val="DCEAF2">
                <a:alpha val="0"/>
              </a:srgbClr>
            </a:solidFill>
            <a:prstDash val="solid"/>
          </a:ln>
        </p:spPr>
      </p:sp>
      <p:sp>
        <p:nvSpPr>
          <p:cNvPr id="40" name="Text 38"/>
          <p:cNvSpPr/>
          <p:nvPr/>
        </p:nvSpPr>
        <p:spPr>
          <a:xfrm>
            <a:off x="8476488" y="3867912"/>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tag_count</a:t>
            </a:r>
            <a:endParaRPr lang="en-US" sz="1030" dirty="0"/>
          </a:p>
        </p:txBody>
      </p:sp>
      <p:sp>
        <p:nvSpPr>
          <p:cNvPr id="41" name="Shape 39"/>
          <p:cNvSpPr/>
          <p:nvPr/>
        </p:nvSpPr>
        <p:spPr>
          <a:xfrm>
            <a:off x="6236208" y="4279392"/>
            <a:ext cx="1920240" cy="347472"/>
          </a:xfrm>
          <a:prstGeom prst="roundRect">
            <a:avLst>
              <a:gd name="adj" fmla="val 13158"/>
            </a:avLst>
          </a:prstGeom>
          <a:solidFill>
            <a:srgbClr val="DCEFE9"/>
          </a:solidFill>
          <a:ln w="12700">
            <a:solidFill>
              <a:srgbClr val="DCEFE9">
                <a:alpha val="0"/>
              </a:srgbClr>
            </a:solidFill>
            <a:prstDash val="solid"/>
          </a:ln>
        </p:spPr>
      </p:sp>
      <p:sp>
        <p:nvSpPr>
          <p:cNvPr id="42" name="Text 40"/>
          <p:cNvSpPr/>
          <p:nvPr/>
        </p:nvSpPr>
        <p:spPr>
          <a:xfrm>
            <a:off x="6236208" y="4379976"/>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attribute_count</a:t>
            </a:r>
            <a:endParaRPr lang="en-US" sz="1030" dirty="0"/>
          </a:p>
        </p:txBody>
      </p:sp>
      <p:sp>
        <p:nvSpPr>
          <p:cNvPr id="43" name="Shape 41"/>
          <p:cNvSpPr/>
          <p:nvPr/>
        </p:nvSpPr>
        <p:spPr>
          <a:xfrm>
            <a:off x="8476488" y="4279392"/>
            <a:ext cx="1920240" cy="347472"/>
          </a:xfrm>
          <a:prstGeom prst="roundRect">
            <a:avLst>
              <a:gd name="adj" fmla="val 13158"/>
            </a:avLst>
          </a:prstGeom>
          <a:solidFill>
            <a:srgbClr val="DCEAF2"/>
          </a:solidFill>
          <a:ln w="12700">
            <a:solidFill>
              <a:srgbClr val="DCEAF2">
                <a:alpha val="0"/>
              </a:srgbClr>
            </a:solidFill>
            <a:prstDash val="solid"/>
          </a:ln>
        </p:spPr>
      </p:sp>
      <p:sp>
        <p:nvSpPr>
          <p:cNvPr id="44" name="Text 42"/>
          <p:cNvSpPr/>
          <p:nvPr/>
        </p:nvSpPr>
        <p:spPr>
          <a:xfrm>
            <a:off x="8476488" y="4379976"/>
            <a:ext cx="1920240" cy="137160"/>
          </a:xfrm>
          <a:prstGeom prst="rect">
            <a:avLst/>
          </a:prstGeom>
          <a:noFill/>
          <a:ln/>
        </p:spPr>
        <p:txBody>
          <a:bodyPr wrap="square" lIns="0" tIns="0" rIns="0" bIns="0" rtlCol="0" anchor="ctr"/>
          <a:lstStyle/>
          <a:p>
            <a:pPr algn="ctr" indent="0" marL="0">
              <a:buNone/>
            </a:pPr>
            <a:r>
              <a:rPr lang="en-US" sz="1030" b="1" dirty="0">
                <a:solidFill>
                  <a:srgbClr val="1B2A41"/>
                </a:solidFill>
                <a:latin typeface="Aptos" pitchFamily="34" charset="0"/>
                <a:ea typeface="Aptos" pitchFamily="34" charset="-122"/>
                <a:cs typeface="Aptos" pitchFamily="34" charset="-120"/>
              </a:rPr>
              <a:t>has_warranty</a:t>
            </a:r>
            <a:endParaRPr lang="en-US" sz="1030" dirty="0"/>
          </a:p>
        </p:txBody>
      </p:sp>
      <p:sp>
        <p:nvSpPr>
          <p:cNvPr id="45" name="Text 43"/>
          <p:cNvSpPr/>
          <p:nvPr/>
        </p:nvSpPr>
        <p:spPr>
          <a:xfrm>
            <a:off x="6236208" y="4828032"/>
            <a:ext cx="4572000" cy="384048"/>
          </a:xfrm>
          <a:prstGeom prst="rect">
            <a:avLst/>
          </a:prstGeom>
          <a:noFill/>
          <a:ln/>
        </p:spPr>
        <p:txBody>
          <a:bodyPr wrap="square" lIns="0" tIns="0" rIns="0" bIns="0" rtlCol="0" anchor="ctr"/>
          <a:lstStyle/>
          <a:p>
            <a:pPr indent="0" marL="0">
              <a:buNone/>
            </a:pPr>
            <a:r>
              <a:rPr lang="en-US" sz="1250" dirty="0">
                <a:solidFill>
                  <a:srgbClr val="5C6770"/>
                </a:solidFill>
                <a:latin typeface="Aptos" pitchFamily="34" charset="0"/>
                <a:ea typeface="Aptos" pitchFamily="34" charset="-122"/>
                <a:cs typeface="Aptos" pitchFamily="34" charset="-120"/>
              </a:rPr>
              <a:t>Removed or controlled: base_price, category_id, sparse fields, raw JSON containers.</a:t>
            </a:r>
            <a:endParaRPr lang="en-US" sz="1250" dirty="0"/>
          </a:p>
        </p:txBody>
      </p:sp>
      <p:sp>
        <p:nvSpPr>
          <p:cNvPr id="46" name="Shape 44"/>
          <p:cNvSpPr/>
          <p:nvPr/>
        </p:nvSpPr>
        <p:spPr>
          <a:xfrm>
            <a:off x="777240" y="5532120"/>
            <a:ext cx="10698480" cy="658368"/>
          </a:xfrm>
          <a:prstGeom prst="roundRect">
            <a:avLst>
              <a:gd name="adj" fmla="val 11111"/>
            </a:avLst>
          </a:prstGeom>
          <a:solidFill>
            <a:srgbClr val="F7E1D9"/>
          </a:solidFill>
          <a:ln w="12700">
            <a:solidFill>
              <a:srgbClr val="F7E1D9">
                <a:alpha val="0"/>
              </a:srgbClr>
            </a:solidFill>
            <a:prstDash val="solid"/>
          </a:ln>
        </p:spPr>
      </p:sp>
      <p:sp>
        <p:nvSpPr>
          <p:cNvPr id="47" name="Text 45"/>
          <p:cNvSpPr/>
          <p:nvPr/>
        </p:nvSpPr>
        <p:spPr>
          <a:xfrm>
            <a:off x="1005840" y="566928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Most of the model performance came from feature engineering, not the raw data.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06</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REGRESSION (PRICE)</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ElasticNet captured part of the pricing signal, but the task remained hard</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Price prediction is fundamentally limited when product-level semantics are missing.</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2</a:t>
            </a:r>
            <a:endParaRPr lang="en-US" sz="1000" dirty="0"/>
          </a:p>
        </p:txBody>
      </p:sp>
      <p:sp>
        <p:nvSpPr>
          <p:cNvPr id="11" name="Shape 9"/>
          <p:cNvSpPr/>
          <p:nvPr/>
        </p:nvSpPr>
        <p:spPr>
          <a:xfrm>
            <a:off x="868680" y="2103120"/>
            <a:ext cx="2057400" cy="1234440"/>
          </a:xfrm>
          <a:prstGeom prst="roundRect">
            <a:avLst>
              <a:gd name="adj" fmla="val 5926"/>
            </a:avLst>
          </a:prstGeom>
          <a:solidFill>
            <a:srgbClr val="EFE4D0"/>
          </a:solidFill>
          <a:ln w="12700">
            <a:solidFill>
              <a:srgbClr val="EFE4D0">
                <a:alpha val="0"/>
              </a:srgbClr>
            </a:solidFill>
            <a:prstDash val="solid"/>
          </a:ln>
        </p:spPr>
      </p:sp>
      <p:sp>
        <p:nvSpPr>
          <p:cNvPr id="12" name="Text 10"/>
          <p:cNvSpPr/>
          <p:nvPr/>
        </p:nvSpPr>
        <p:spPr>
          <a:xfrm>
            <a:off x="1033272" y="2231136"/>
            <a:ext cx="172821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MODEL</a:t>
            </a:r>
            <a:endParaRPr lang="en-US" sz="850" dirty="0"/>
          </a:p>
        </p:txBody>
      </p:sp>
      <p:sp>
        <p:nvSpPr>
          <p:cNvPr id="13" name="Text 11"/>
          <p:cNvSpPr/>
          <p:nvPr/>
        </p:nvSpPr>
        <p:spPr>
          <a:xfrm>
            <a:off x="1033272" y="2414016"/>
            <a:ext cx="172821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ElasticNet</a:t>
            </a:r>
            <a:endParaRPr lang="en-US" sz="2000" dirty="0"/>
          </a:p>
        </p:txBody>
      </p:sp>
      <p:sp>
        <p:nvSpPr>
          <p:cNvPr id="14" name="Text 12"/>
          <p:cNvSpPr/>
          <p:nvPr/>
        </p:nvSpPr>
        <p:spPr>
          <a:xfrm>
            <a:off x="1033272" y="3118104"/>
            <a:ext cx="172821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On log-transformed price</a:t>
            </a:r>
            <a:endParaRPr lang="en-US" sz="850" dirty="0"/>
          </a:p>
        </p:txBody>
      </p:sp>
      <p:sp>
        <p:nvSpPr>
          <p:cNvPr id="15" name="Shape 13"/>
          <p:cNvSpPr/>
          <p:nvPr/>
        </p:nvSpPr>
        <p:spPr>
          <a:xfrm>
            <a:off x="3154680" y="2103120"/>
            <a:ext cx="1920240" cy="1234440"/>
          </a:xfrm>
          <a:prstGeom prst="roundRect">
            <a:avLst>
              <a:gd name="adj" fmla="val 5926"/>
            </a:avLst>
          </a:prstGeom>
          <a:solidFill>
            <a:srgbClr val="DCEFE9"/>
          </a:solidFill>
          <a:ln w="12700">
            <a:solidFill>
              <a:srgbClr val="DCEFE9">
                <a:alpha val="0"/>
              </a:srgbClr>
            </a:solidFill>
            <a:prstDash val="solid"/>
          </a:ln>
        </p:spPr>
      </p:sp>
      <p:sp>
        <p:nvSpPr>
          <p:cNvPr id="16" name="Text 14"/>
          <p:cNvSpPr/>
          <p:nvPr/>
        </p:nvSpPr>
        <p:spPr>
          <a:xfrm>
            <a:off x="3319272" y="2231136"/>
            <a:ext cx="15910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MAE</a:t>
            </a:r>
            <a:endParaRPr lang="en-US" sz="850" dirty="0"/>
          </a:p>
        </p:txBody>
      </p:sp>
      <p:sp>
        <p:nvSpPr>
          <p:cNvPr id="17" name="Text 15"/>
          <p:cNvSpPr/>
          <p:nvPr/>
        </p:nvSpPr>
        <p:spPr>
          <a:xfrm>
            <a:off x="3319272" y="2414016"/>
            <a:ext cx="15910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1.07</a:t>
            </a:r>
            <a:endParaRPr lang="en-US" sz="2000" dirty="0"/>
          </a:p>
        </p:txBody>
      </p:sp>
      <p:sp>
        <p:nvSpPr>
          <p:cNvPr id="18" name="Text 16"/>
          <p:cNvSpPr/>
          <p:nvPr/>
        </p:nvSpPr>
        <p:spPr>
          <a:xfrm>
            <a:off x="3319272" y="3118104"/>
            <a:ext cx="15910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Lower is better</a:t>
            </a:r>
            <a:endParaRPr lang="en-US" sz="850" dirty="0"/>
          </a:p>
        </p:txBody>
      </p:sp>
      <p:sp>
        <p:nvSpPr>
          <p:cNvPr id="19" name="Shape 17"/>
          <p:cNvSpPr/>
          <p:nvPr/>
        </p:nvSpPr>
        <p:spPr>
          <a:xfrm>
            <a:off x="5230368" y="2103120"/>
            <a:ext cx="1920240" cy="1234440"/>
          </a:xfrm>
          <a:prstGeom prst="roundRect">
            <a:avLst>
              <a:gd name="adj" fmla="val 5926"/>
            </a:avLst>
          </a:prstGeom>
          <a:solidFill>
            <a:srgbClr val="DCEAF2"/>
          </a:solidFill>
          <a:ln w="12700">
            <a:solidFill>
              <a:srgbClr val="DCEAF2">
                <a:alpha val="0"/>
              </a:srgbClr>
            </a:solidFill>
            <a:prstDash val="solid"/>
          </a:ln>
        </p:spPr>
      </p:sp>
      <p:sp>
        <p:nvSpPr>
          <p:cNvPr id="20" name="Text 18"/>
          <p:cNvSpPr/>
          <p:nvPr/>
        </p:nvSpPr>
        <p:spPr>
          <a:xfrm>
            <a:off x="5394960" y="2231136"/>
            <a:ext cx="15910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RMSE</a:t>
            </a:r>
            <a:endParaRPr lang="en-US" sz="850" dirty="0"/>
          </a:p>
        </p:txBody>
      </p:sp>
      <p:sp>
        <p:nvSpPr>
          <p:cNvPr id="21" name="Text 19"/>
          <p:cNvSpPr/>
          <p:nvPr/>
        </p:nvSpPr>
        <p:spPr>
          <a:xfrm>
            <a:off x="5394960" y="2414016"/>
            <a:ext cx="15910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1.39</a:t>
            </a:r>
            <a:endParaRPr lang="en-US" sz="2000" dirty="0"/>
          </a:p>
        </p:txBody>
      </p:sp>
      <p:sp>
        <p:nvSpPr>
          <p:cNvPr id="22" name="Text 20"/>
          <p:cNvSpPr/>
          <p:nvPr/>
        </p:nvSpPr>
        <p:spPr>
          <a:xfrm>
            <a:off x="5394960" y="3118104"/>
            <a:ext cx="15910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Log-price scale</a:t>
            </a:r>
            <a:endParaRPr lang="en-US" sz="850" dirty="0"/>
          </a:p>
        </p:txBody>
      </p:sp>
      <p:sp>
        <p:nvSpPr>
          <p:cNvPr id="23" name="Shape 21"/>
          <p:cNvSpPr/>
          <p:nvPr/>
        </p:nvSpPr>
        <p:spPr>
          <a:xfrm>
            <a:off x="7306056" y="2103120"/>
            <a:ext cx="1920240" cy="1234440"/>
          </a:xfrm>
          <a:prstGeom prst="roundRect">
            <a:avLst>
              <a:gd name="adj" fmla="val 5926"/>
            </a:avLst>
          </a:prstGeom>
          <a:solidFill>
            <a:srgbClr val="F7E1D9"/>
          </a:solidFill>
          <a:ln w="12700">
            <a:solidFill>
              <a:srgbClr val="F7E1D9">
                <a:alpha val="0"/>
              </a:srgbClr>
            </a:solidFill>
            <a:prstDash val="solid"/>
          </a:ln>
        </p:spPr>
      </p:sp>
      <p:sp>
        <p:nvSpPr>
          <p:cNvPr id="24" name="Text 22"/>
          <p:cNvSpPr/>
          <p:nvPr/>
        </p:nvSpPr>
        <p:spPr>
          <a:xfrm>
            <a:off x="7470648" y="2231136"/>
            <a:ext cx="1591056" cy="109728"/>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R^2</a:t>
            </a:r>
            <a:endParaRPr lang="en-US" sz="850" dirty="0"/>
          </a:p>
        </p:txBody>
      </p:sp>
      <p:sp>
        <p:nvSpPr>
          <p:cNvPr id="25" name="Text 23"/>
          <p:cNvSpPr/>
          <p:nvPr/>
        </p:nvSpPr>
        <p:spPr>
          <a:xfrm>
            <a:off x="7470648" y="2414016"/>
            <a:ext cx="1591056" cy="256032"/>
          </a:xfrm>
          <a:prstGeom prst="rect">
            <a:avLst/>
          </a:prstGeom>
          <a:noFill/>
          <a:ln/>
        </p:spPr>
        <p:txBody>
          <a:bodyPr wrap="square" lIns="0" tIns="0" rIns="0" bIns="0" rtlCol="0" anchor="ctr"/>
          <a:lstStyle/>
          <a:p>
            <a:pPr indent="0" marL="0">
              <a:buNone/>
            </a:pPr>
            <a:r>
              <a:rPr lang="en-US" sz="2000" b="1" dirty="0">
                <a:solidFill>
                  <a:srgbClr val="1B2A41"/>
                </a:solidFill>
                <a:latin typeface="Trebuchet MS" pitchFamily="34" charset="0"/>
                <a:ea typeface="Trebuchet MS" pitchFamily="34" charset="-122"/>
                <a:cs typeface="Trebuchet MS" pitchFamily="34" charset="-120"/>
              </a:rPr>
              <a:t>0.36</a:t>
            </a:r>
            <a:endParaRPr lang="en-US" sz="2000" dirty="0"/>
          </a:p>
        </p:txBody>
      </p:sp>
      <p:sp>
        <p:nvSpPr>
          <p:cNvPr id="26" name="Text 24"/>
          <p:cNvSpPr/>
          <p:nvPr/>
        </p:nvSpPr>
        <p:spPr>
          <a:xfrm>
            <a:off x="7470648" y="3118104"/>
            <a:ext cx="1591056" cy="128016"/>
          </a:xfrm>
          <a:prstGeom prst="rect">
            <a:avLst/>
          </a:prstGeom>
          <a:noFill/>
          <a:ln/>
        </p:spPr>
        <p:txBody>
          <a:bodyPr wrap="square" lIns="0" tIns="0" rIns="0" bIns="0" rtlCol="0" anchor="ctr"/>
          <a:lstStyle/>
          <a:p>
            <a:pPr indent="0" marL="0">
              <a:buNone/>
            </a:pPr>
            <a:r>
              <a:rPr lang="en-US" sz="850" dirty="0">
                <a:solidFill>
                  <a:srgbClr val="5C6770"/>
                </a:solidFill>
                <a:latin typeface="Aptos" pitchFamily="34" charset="0"/>
                <a:ea typeface="Aptos" pitchFamily="34" charset="-122"/>
                <a:cs typeface="Aptos" pitchFamily="34" charset="-120"/>
              </a:rPr>
              <a:t>Moderate explanatory power</a:t>
            </a:r>
            <a:endParaRPr lang="en-US" sz="850" dirty="0"/>
          </a:p>
        </p:txBody>
      </p:sp>
      <p:sp>
        <p:nvSpPr>
          <p:cNvPr id="27" name="Shape 25"/>
          <p:cNvSpPr/>
          <p:nvPr/>
        </p:nvSpPr>
        <p:spPr>
          <a:xfrm>
            <a:off x="868680" y="3794760"/>
            <a:ext cx="4754880" cy="1627632"/>
          </a:xfrm>
          <a:prstGeom prst="roundRect">
            <a:avLst>
              <a:gd name="adj" fmla="val 4494"/>
            </a:avLst>
          </a:prstGeom>
          <a:solidFill>
            <a:srgbClr val="FFFFFF"/>
          </a:solidFill>
          <a:ln w="12700">
            <a:solidFill>
              <a:srgbClr val="D8D1C4"/>
            </a:solidFill>
            <a:prstDash val="solid"/>
          </a:ln>
        </p:spPr>
      </p:sp>
      <p:sp>
        <p:nvSpPr>
          <p:cNvPr id="28" name="Text 26"/>
          <p:cNvSpPr/>
          <p:nvPr/>
        </p:nvSpPr>
        <p:spPr>
          <a:xfrm>
            <a:off x="1078992" y="4023360"/>
            <a:ext cx="210312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Why it is difficult</a:t>
            </a:r>
            <a:endParaRPr lang="en-US" sz="1700" dirty="0"/>
          </a:p>
        </p:txBody>
      </p:sp>
      <p:sp>
        <p:nvSpPr>
          <p:cNvPr id="29" name="Shape 27"/>
          <p:cNvSpPr/>
          <p:nvPr/>
        </p:nvSpPr>
        <p:spPr>
          <a:xfrm>
            <a:off x="1078992" y="4489704"/>
            <a:ext cx="100584" cy="100584"/>
          </a:xfrm>
          <a:prstGeom prst="ellipse">
            <a:avLst/>
          </a:prstGeom>
          <a:solidFill>
            <a:srgbClr val="D6A64F"/>
          </a:solidFill>
          <a:ln w="12700">
            <a:solidFill>
              <a:srgbClr val="D6A64F">
                <a:alpha val="0"/>
              </a:srgbClr>
            </a:solidFill>
            <a:prstDash val="solid"/>
          </a:ln>
        </p:spPr>
      </p:sp>
      <p:sp>
        <p:nvSpPr>
          <p:cNvPr id="30" name="Text 28"/>
          <p:cNvSpPr/>
          <p:nvPr/>
        </p:nvSpPr>
        <p:spPr>
          <a:xfrm>
            <a:off x="1280160" y="4389120"/>
            <a:ext cx="3566160" cy="292608"/>
          </a:xfrm>
          <a:prstGeom prst="rect">
            <a:avLst/>
          </a:prstGeom>
          <a:noFill/>
          <a:ln/>
        </p:spPr>
        <p:txBody>
          <a:bodyPr wrap="square" lIns="0" tIns="0" rIns="0" bIns="0" rtlCol="0" anchor="ctr"/>
          <a:lstStyle/>
          <a:p>
            <a:pPr indent="0" marL="0">
              <a:buNone/>
            </a:pPr>
            <a:r>
              <a:rPr lang="en-US" sz="1270" dirty="0">
                <a:solidFill>
                  <a:srgbClr val="1B2A41"/>
                </a:solidFill>
                <a:latin typeface="Aptos" pitchFamily="34" charset="0"/>
                <a:ea typeface="Aptos" pitchFamily="34" charset="-122"/>
                <a:cs typeface="Aptos" pitchFamily="34" charset="-120"/>
              </a:rPr>
              <a:t>Listings span many product categories and seller strategies.</a:t>
            </a:r>
            <a:endParaRPr lang="en-US" sz="1270" dirty="0"/>
          </a:p>
        </p:txBody>
      </p:sp>
      <p:sp>
        <p:nvSpPr>
          <p:cNvPr id="31" name="Shape 29"/>
          <p:cNvSpPr/>
          <p:nvPr/>
        </p:nvSpPr>
        <p:spPr>
          <a:xfrm>
            <a:off x="1078992" y="4809744"/>
            <a:ext cx="100584" cy="100584"/>
          </a:xfrm>
          <a:prstGeom prst="ellipse">
            <a:avLst/>
          </a:prstGeom>
          <a:solidFill>
            <a:srgbClr val="D6A64F"/>
          </a:solidFill>
          <a:ln w="12700">
            <a:solidFill>
              <a:srgbClr val="D6A64F">
                <a:alpha val="0"/>
              </a:srgbClr>
            </a:solidFill>
            <a:prstDash val="solid"/>
          </a:ln>
        </p:spPr>
      </p:sp>
      <p:sp>
        <p:nvSpPr>
          <p:cNvPr id="32" name="Text 30"/>
          <p:cNvSpPr/>
          <p:nvPr/>
        </p:nvSpPr>
        <p:spPr>
          <a:xfrm>
            <a:off x="1280160" y="4709160"/>
            <a:ext cx="3566160" cy="292608"/>
          </a:xfrm>
          <a:prstGeom prst="rect">
            <a:avLst/>
          </a:prstGeom>
          <a:noFill/>
          <a:ln/>
        </p:spPr>
        <p:txBody>
          <a:bodyPr wrap="square" lIns="0" tIns="0" rIns="0" bIns="0" rtlCol="0" anchor="ctr"/>
          <a:lstStyle/>
          <a:p>
            <a:pPr indent="0" marL="0">
              <a:buNone/>
            </a:pPr>
            <a:r>
              <a:rPr lang="en-US" sz="1270" dirty="0">
                <a:solidFill>
                  <a:srgbClr val="1B2A41"/>
                </a:solidFill>
                <a:latin typeface="Aptos" pitchFamily="34" charset="0"/>
                <a:ea typeface="Aptos" pitchFamily="34" charset="-122"/>
                <a:cs typeface="Aptos" pitchFamily="34" charset="-120"/>
              </a:rPr>
              <a:t>Important product-level details were not modeled from text or images.</a:t>
            </a:r>
            <a:endParaRPr lang="en-US" sz="1270" dirty="0"/>
          </a:p>
        </p:txBody>
      </p:sp>
      <p:sp>
        <p:nvSpPr>
          <p:cNvPr id="33" name="Shape 31"/>
          <p:cNvSpPr/>
          <p:nvPr/>
        </p:nvSpPr>
        <p:spPr>
          <a:xfrm>
            <a:off x="1078992" y="5129784"/>
            <a:ext cx="100584" cy="100584"/>
          </a:xfrm>
          <a:prstGeom prst="ellipse">
            <a:avLst/>
          </a:prstGeom>
          <a:solidFill>
            <a:srgbClr val="D6A64F"/>
          </a:solidFill>
          <a:ln w="12700">
            <a:solidFill>
              <a:srgbClr val="D6A64F">
                <a:alpha val="0"/>
              </a:srgbClr>
            </a:solidFill>
            <a:prstDash val="solid"/>
          </a:ln>
        </p:spPr>
      </p:sp>
      <p:sp>
        <p:nvSpPr>
          <p:cNvPr id="34" name="Text 32"/>
          <p:cNvSpPr/>
          <p:nvPr/>
        </p:nvSpPr>
        <p:spPr>
          <a:xfrm>
            <a:off x="1280160" y="5029200"/>
            <a:ext cx="3566160" cy="292608"/>
          </a:xfrm>
          <a:prstGeom prst="rect">
            <a:avLst/>
          </a:prstGeom>
          <a:noFill/>
          <a:ln/>
        </p:spPr>
        <p:txBody>
          <a:bodyPr wrap="square" lIns="0" tIns="0" rIns="0" bIns="0" rtlCol="0" anchor="ctr"/>
          <a:lstStyle/>
          <a:p>
            <a:pPr indent="0" marL="0">
              <a:buNone/>
            </a:pPr>
            <a:r>
              <a:rPr lang="en-US" sz="1270" dirty="0">
                <a:solidFill>
                  <a:srgbClr val="1B2A41"/>
                </a:solidFill>
                <a:latin typeface="Aptos" pitchFamily="34" charset="0"/>
                <a:ea typeface="Aptos" pitchFamily="34" charset="-122"/>
                <a:cs typeface="Aptos" pitchFamily="34" charset="-120"/>
              </a:rPr>
              <a:t>The price distribution is heavily skewed even after log transformation.</a:t>
            </a:r>
            <a:endParaRPr lang="en-US" sz="1270" dirty="0"/>
          </a:p>
        </p:txBody>
      </p:sp>
      <p:sp>
        <p:nvSpPr>
          <p:cNvPr id="35" name="Shape 33"/>
          <p:cNvSpPr/>
          <p:nvPr/>
        </p:nvSpPr>
        <p:spPr>
          <a:xfrm>
            <a:off x="5989320" y="3794760"/>
            <a:ext cx="5120640" cy="1627632"/>
          </a:xfrm>
          <a:prstGeom prst="roundRect">
            <a:avLst>
              <a:gd name="adj" fmla="val 4494"/>
            </a:avLst>
          </a:prstGeom>
          <a:solidFill>
            <a:srgbClr val="FFFFFF"/>
          </a:solidFill>
          <a:ln w="12700">
            <a:solidFill>
              <a:srgbClr val="D8D1C4"/>
            </a:solidFill>
            <a:prstDash val="solid"/>
          </a:ln>
        </p:spPr>
      </p:sp>
      <p:sp>
        <p:nvSpPr>
          <p:cNvPr id="36" name="Text 34"/>
          <p:cNvSpPr/>
          <p:nvPr/>
        </p:nvSpPr>
        <p:spPr>
          <a:xfrm>
            <a:off x="6217920" y="4023360"/>
            <a:ext cx="219456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Interpretation</a:t>
            </a:r>
            <a:endParaRPr lang="en-US" sz="1700" dirty="0"/>
          </a:p>
        </p:txBody>
      </p:sp>
      <p:sp>
        <p:nvSpPr>
          <p:cNvPr id="37" name="Text 35"/>
          <p:cNvSpPr/>
          <p:nvPr/>
        </p:nvSpPr>
        <p:spPr>
          <a:xfrm>
            <a:off x="6217920" y="4389120"/>
            <a:ext cx="4526280" cy="594360"/>
          </a:xfrm>
          <a:prstGeom prst="rect">
            <a:avLst/>
          </a:prstGeom>
          <a:noFill/>
          <a:ln/>
        </p:spPr>
        <p:txBody>
          <a:bodyPr wrap="square" lIns="0" tIns="0" rIns="0" bIns="0" rtlCol="0" anchor="ctr"/>
          <a:lstStyle/>
          <a:p>
            <a:pPr indent="0" marL="0">
              <a:buNone/>
            </a:pPr>
            <a:r>
              <a:rPr lang="en-US" sz="1330" dirty="0">
                <a:solidFill>
                  <a:srgbClr val="1B2A41"/>
                </a:solidFill>
                <a:latin typeface="Aptos" pitchFamily="34" charset="0"/>
                <a:ea typeface="Aptos" pitchFamily="34" charset="-122"/>
                <a:cs typeface="Aptos" pitchFamily="34" charset="-120"/>
              </a:rPr>
              <a:t>The model explains broad marketplace trends, but exact price remains hard to predict because much of the product-specific context is still missing.</a:t>
            </a:r>
            <a:endParaRPr lang="en-US" sz="13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07</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CLASSIFICATION MODELS</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Comparing linear and non-linear classifiers</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Non-linear models better captured the structure hidden in seller and listing behavior.</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3</a:t>
            </a:r>
            <a:endParaRPr lang="en-US" sz="1000" dirty="0"/>
          </a:p>
        </p:txBody>
      </p:sp>
      <p:sp>
        <p:nvSpPr>
          <p:cNvPr id="11" name="Shape 9"/>
          <p:cNvSpPr/>
          <p:nvPr/>
        </p:nvSpPr>
        <p:spPr>
          <a:xfrm>
            <a:off x="868680" y="2011680"/>
            <a:ext cx="6903720" cy="3383280"/>
          </a:xfrm>
          <a:prstGeom prst="roundRect">
            <a:avLst>
              <a:gd name="adj" fmla="val 2162"/>
            </a:avLst>
          </a:prstGeom>
          <a:solidFill>
            <a:srgbClr val="FFFFFF"/>
          </a:solidFill>
          <a:ln w="12700">
            <a:solidFill>
              <a:srgbClr val="D8D1C4"/>
            </a:solidFill>
            <a:prstDash val="solid"/>
          </a:ln>
        </p:spPr>
      </p:sp>
      <p:sp>
        <p:nvSpPr>
          <p:cNvPr id="12" name="Text 10"/>
          <p:cNvSpPr/>
          <p:nvPr/>
        </p:nvSpPr>
        <p:spPr>
          <a:xfrm>
            <a:off x="1097280" y="2240280"/>
            <a:ext cx="256032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Accuracy comparison</a:t>
            </a:r>
            <a:endParaRPr lang="en-US" sz="1700" dirty="0"/>
          </a:p>
        </p:txBody>
      </p:sp>
      <p:sp>
        <p:nvSpPr>
          <p:cNvPr id="13" name="Text 11"/>
          <p:cNvSpPr/>
          <p:nvPr/>
        </p:nvSpPr>
        <p:spPr>
          <a:xfrm>
            <a:off x="1097280" y="2743200"/>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Random Forest</a:t>
            </a:r>
            <a:endParaRPr lang="en-US" sz="1200" dirty="0"/>
          </a:p>
        </p:txBody>
      </p:sp>
      <p:sp>
        <p:nvSpPr>
          <p:cNvPr id="14" name="Shape 12"/>
          <p:cNvSpPr/>
          <p:nvPr/>
        </p:nvSpPr>
        <p:spPr>
          <a:xfrm>
            <a:off x="3154680" y="2761488"/>
            <a:ext cx="3200400" cy="164592"/>
          </a:xfrm>
          <a:prstGeom prst="roundRect">
            <a:avLst>
              <a:gd name="adj" fmla="val 16667"/>
            </a:avLst>
          </a:prstGeom>
          <a:solidFill>
            <a:srgbClr val="EFE4D0"/>
          </a:solidFill>
          <a:ln w="12700">
            <a:solidFill>
              <a:srgbClr val="EFE4D0">
                <a:alpha val="0"/>
              </a:srgbClr>
            </a:solidFill>
            <a:prstDash val="solid"/>
          </a:ln>
        </p:spPr>
      </p:sp>
      <p:sp>
        <p:nvSpPr>
          <p:cNvPr id="15" name="Shape 13"/>
          <p:cNvSpPr/>
          <p:nvPr/>
        </p:nvSpPr>
        <p:spPr>
          <a:xfrm>
            <a:off x="3154680" y="2761488"/>
            <a:ext cx="3087068" cy="164592"/>
          </a:xfrm>
          <a:prstGeom prst="roundRect">
            <a:avLst>
              <a:gd name="adj" fmla="val 16667"/>
            </a:avLst>
          </a:prstGeom>
          <a:solidFill>
            <a:srgbClr val="1F5C4D"/>
          </a:solidFill>
          <a:ln w="12700">
            <a:solidFill>
              <a:srgbClr val="1F5C4D">
                <a:alpha val="0"/>
              </a:srgbClr>
            </a:solidFill>
            <a:prstDash val="solid"/>
          </a:ln>
        </p:spPr>
      </p:sp>
      <p:sp>
        <p:nvSpPr>
          <p:cNvPr id="16" name="Text 14"/>
          <p:cNvSpPr/>
          <p:nvPr/>
        </p:nvSpPr>
        <p:spPr>
          <a:xfrm>
            <a:off x="6492240" y="2724912"/>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0.82</a:t>
            </a:r>
            <a:endParaRPr lang="en-US" sz="1200" dirty="0"/>
          </a:p>
        </p:txBody>
      </p:sp>
      <p:sp>
        <p:nvSpPr>
          <p:cNvPr id="17" name="Text 15"/>
          <p:cNvSpPr/>
          <p:nvPr/>
        </p:nvSpPr>
        <p:spPr>
          <a:xfrm>
            <a:off x="1097280" y="3218688"/>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Gradient Boosting</a:t>
            </a:r>
            <a:endParaRPr lang="en-US" sz="1200" dirty="0"/>
          </a:p>
        </p:txBody>
      </p:sp>
      <p:sp>
        <p:nvSpPr>
          <p:cNvPr id="18" name="Shape 16"/>
          <p:cNvSpPr/>
          <p:nvPr/>
        </p:nvSpPr>
        <p:spPr>
          <a:xfrm>
            <a:off x="3154680" y="3236976"/>
            <a:ext cx="3200400" cy="164592"/>
          </a:xfrm>
          <a:prstGeom prst="roundRect">
            <a:avLst>
              <a:gd name="adj" fmla="val 16667"/>
            </a:avLst>
          </a:prstGeom>
          <a:solidFill>
            <a:srgbClr val="EFE4D0"/>
          </a:solidFill>
          <a:ln w="12700">
            <a:solidFill>
              <a:srgbClr val="EFE4D0">
                <a:alpha val="0"/>
              </a:srgbClr>
            </a:solidFill>
            <a:prstDash val="solid"/>
          </a:ln>
        </p:spPr>
      </p:sp>
      <p:sp>
        <p:nvSpPr>
          <p:cNvPr id="19" name="Shape 17"/>
          <p:cNvSpPr/>
          <p:nvPr/>
        </p:nvSpPr>
        <p:spPr>
          <a:xfrm>
            <a:off x="3154680" y="3236976"/>
            <a:ext cx="3055441" cy="164592"/>
          </a:xfrm>
          <a:prstGeom prst="roundRect">
            <a:avLst>
              <a:gd name="adj" fmla="val 16667"/>
            </a:avLst>
          </a:prstGeom>
          <a:solidFill>
            <a:srgbClr val="2A9D8F"/>
          </a:solidFill>
          <a:ln w="12700">
            <a:solidFill>
              <a:srgbClr val="2A9D8F">
                <a:alpha val="0"/>
              </a:srgbClr>
            </a:solidFill>
            <a:prstDash val="solid"/>
          </a:ln>
        </p:spPr>
      </p:sp>
      <p:sp>
        <p:nvSpPr>
          <p:cNvPr id="20" name="Text 18"/>
          <p:cNvSpPr/>
          <p:nvPr/>
        </p:nvSpPr>
        <p:spPr>
          <a:xfrm>
            <a:off x="6492240" y="3200400"/>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0.81</a:t>
            </a:r>
            <a:endParaRPr lang="en-US" sz="1200" dirty="0"/>
          </a:p>
        </p:txBody>
      </p:sp>
      <p:sp>
        <p:nvSpPr>
          <p:cNvPr id="21" name="Text 19"/>
          <p:cNvSpPr/>
          <p:nvPr/>
        </p:nvSpPr>
        <p:spPr>
          <a:xfrm>
            <a:off x="1097280" y="3694176"/>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KNN</a:t>
            </a:r>
            <a:endParaRPr lang="en-US" sz="1200" dirty="0"/>
          </a:p>
        </p:txBody>
      </p:sp>
      <p:sp>
        <p:nvSpPr>
          <p:cNvPr id="22" name="Shape 20"/>
          <p:cNvSpPr/>
          <p:nvPr/>
        </p:nvSpPr>
        <p:spPr>
          <a:xfrm>
            <a:off x="3154680" y="3712464"/>
            <a:ext cx="3200400" cy="164592"/>
          </a:xfrm>
          <a:prstGeom prst="roundRect">
            <a:avLst>
              <a:gd name="adj" fmla="val 16667"/>
            </a:avLst>
          </a:prstGeom>
          <a:solidFill>
            <a:srgbClr val="EFE4D0"/>
          </a:solidFill>
          <a:ln w="12700">
            <a:solidFill>
              <a:srgbClr val="EFE4D0">
                <a:alpha val="0"/>
              </a:srgbClr>
            </a:solidFill>
            <a:prstDash val="solid"/>
          </a:ln>
        </p:spPr>
      </p:sp>
      <p:sp>
        <p:nvSpPr>
          <p:cNvPr id="23" name="Shape 21"/>
          <p:cNvSpPr/>
          <p:nvPr/>
        </p:nvSpPr>
        <p:spPr>
          <a:xfrm>
            <a:off x="3154680" y="3712464"/>
            <a:ext cx="3027014" cy="164592"/>
          </a:xfrm>
          <a:prstGeom prst="roundRect">
            <a:avLst>
              <a:gd name="adj" fmla="val 16667"/>
            </a:avLst>
          </a:prstGeom>
          <a:solidFill>
            <a:srgbClr val="D6A64F"/>
          </a:solidFill>
          <a:ln w="12700">
            <a:solidFill>
              <a:srgbClr val="D6A64F">
                <a:alpha val="0"/>
              </a:srgbClr>
            </a:solidFill>
            <a:prstDash val="solid"/>
          </a:ln>
        </p:spPr>
      </p:sp>
      <p:sp>
        <p:nvSpPr>
          <p:cNvPr id="24" name="Text 22"/>
          <p:cNvSpPr/>
          <p:nvPr/>
        </p:nvSpPr>
        <p:spPr>
          <a:xfrm>
            <a:off x="6492240" y="3675888"/>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0.80</a:t>
            </a:r>
            <a:endParaRPr lang="en-US" sz="1200" dirty="0"/>
          </a:p>
        </p:txBody>
      </p:sp>
      <p:sp>
        <p:nvSpPr>
          <p:cNvPr id="25" name="Text 23"/>
          <p:cNvSpPr/>
          <p:nvPr/>
        </p:nvSpPr>
        <p:spPr>
          <a:xfrm>
            <a:off x="1097280" y="4169664"/>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Logistic Regression</a:t>
            </a:r>
            <a:endParaRPr lang="en-US" sz="1200" dirty="0"/>
          </a:p>
        </p:txBody>
      </p:sp>
      <p:sp>
        <p:nvSpPr>
          <p:cNvPr id="26" name="Shape 24"/>
          <p:cNvSpPr/>
          <p:nvPr/>
        </p:nvSpPr>
        <p:spPr>
          <a:xfrm>
            <a:off x="3154680" y="4187952"/>
            <a:ext cx="3200400" cy="164592"/>
          </a:xfrm>
          <a:prstGeom prst="roundRect">
            <a:avLst>
              <a:gd name="adj" fmla="val 16667"/>
            </a:avLst>
          </a:prstGeom>
          <a:solidFill>
            <a:srgbClr val="EFE4D0"/>
          </a:solidFill>
          <a:ln w="12700">
            <a:solidFill>
              <a:srgbClr val="EFE4D0">
                <a:alpha val="0"/>
              </a:srgbClr>
            </a:solidFill>
            <a:prstDash val="solid"/>
          </a:ln>
        </p:spPr>
      </p:sp>
      <p:sp>
        <p:nvSpPr>
          <p:cNvPr id="27" name="Shape 25"/>
          <p:cNvSpPr/>
          <p:nvPr/>
        </p:nvSpPr>
        <p:spPr>
          <a:xfrm>
            <a:off x="3154680" y="4187952"/>
            <a:ext cx="2920836" cy="164592"/>
          </a:xfrm>
          <a:prstGeom prst="roundRect">
            <a:avLst>
              <a:gd name="adj" fmla="val 16667"/>
            </a:avLst>
          </a:prstGeom>
          <a:solidFill>
            <a:srgbClr val="E76F51"/>
          </a:solidFill>
          <a:ln w="12700">
            <a:solidFill>
              <a:srgbClr val="E76F51">
                <a:alpha val="0"/>
              </a:srgbClr>
            </a:solidFill>
            <a:prstDash val="solid"/>
          </a:ln>
        </p:spPr>
      </p:sp>
      <p:sp>
        <p:nvSpPr>
          <p:cNvPr id="28" name="Text 26"/>
          <p:cNvSpPr/>
          <p:nvPr/>
        </p:nvSpPr>
        <p:spPr>
          <a:xfrm>
            <a:off x="6492240" y="4151376"/>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0.78</a:t>
            </a:r>
            <a:endParaRPr lang="en-US" sz="1200" dirty="0"/>
          </a:p>
        </p:txBody>
      </p:sp>
      <p:sp>
        <p:nvSpPr>
          <p:cNvPr id="29" name="Shape 27"/>
          <p:cNvSpPr/>
          <p:nvPr/>
        </p:nvSpPr>
        <p:spPr>
          <a:xfrm>
            <a:off x="8065008" y="2011680"/>
            <a:ext cx="3063240" cy="3383280"/>
          </a:xfrm>
          <a:prstGeom prst="roundRect">
            <a:avLst>
              <a:gd name="adj" fmla="val 2388"/>
            </a:avLst>
          </a:prstGeom>
          <a:solidFill>
            <a:srgbClr val="DCEAF2"/>
          </a:solidFill>
          <a:ln w="12700">
            <a:solidFill>
              <a:srgbClr val="DCEAF2">
                <a:alpha val="0"/>
              </a:srgbClr>
            </a:solidFill>
            <a:prstDash val="solid"/>
          </a:ln>
        </p:spPr>
      </p:sp>
      <p:sp>
        <p:nvSpPr>
          <p:cNvPr id="30" name="Text 28"/>
          <p:cNvSpPr/>
          <p:nvPr/>
        </p:nvSpPr>
        <p:spPr>
          <a:xfrm>
            <a:off x="8302752" y="2286000"/>
            <a:ext cx="219456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Main message</a:t>
            </a:r>
            <a:endParaRPr lang="en-US" sz="1700" dirty="0"/>
          </a:p>
        </p:txBody>
      </p:sp>
      <p:sp>
        <p:nvSpPr>
          <p:cNvPr id="31" name="Shape 29"/>
          <p:cNvSpPr/>
          <p:nvPr/>
        </p:nvSpPr>
        <p:spPr>
          <a:xfrm>
            <a:off x="8302752" y="2843784"/>
            <a:ext cx="100584" cy="100584"/>
          </a:xfrm>
          <a:prstGeom prst="ellipse">
            <a:avLst/>
          </a:prstGeom>
          <a:solidFill>
            <a:srgbClr val="1F5C4D"/>
          </a:solidFill>
          <a:ln w="12700">
            <a:solidFill>
              <a:srgbClr val="1F5C4D">
                <a:alpha val="0"/>
              </a:srgbClr>
            </a:solidFill>
            <a:prstDash val="solid"/>
          </a:ln>
        </p:spPr>
      </p:sp>
      <p:sp>
        <p:nvSpPr>
          <p:cNvPr id="32" name="Text 30"/>
          <p:cNvSpPr/>
          <p:nvPr/>
        </p:nvSpPr>
        <p:spPr>
          <a:xfrm>
            <a:off x="8503920" y="2743200"/>
            <a:ext cx="224028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Tree ensembles outperformed the linear baseline.</a:t>
            </a:r>
            <a:endParaRPr lang="en-US" sz="1310" dirty="0"/>
          </a:p>
        </p:txBody>
      </p:sp>
      <p:sp>
        <p:nvSpPr>
          <p:cNvPr id="33" name="Shape 31"/>
          <p:cNvSpPr/>
          <p:nvPr/>
        </p:nvSpPr>
        <p:spPr>
          <a:xfrm>
            <a:off x="8302752" y="3337560"/>
            <a:ext cx="100584" cy="100584"/>
          </a:xfrm>
          <a:prstGeom prst="ellipse">
            <a:avLst/>
          </a:prstGeom>
          <a:solidFill>
            <a:srgbClr val="1F5C4D"/>
          </a:solidFill>
          <a:ln w="12700">
            <a:solidFill>
              <a:srgbClr val="1F5C4D">
                <a:alpha val="0"/>
              </a:srgbClr>
            </a:solidFill>
            <a:prstDash val="solid"/>
          </a:ln>
        </p:spPr>
      </p:sp>
      <p:sp>
        <p:nvSpPr>
          <p:cNvPr id="34" name="Text 32"/>
          <p:cNvSpPr/>
          <p:nvPr/>
        </p:nvSpPr>
        <p:spPr>
          <a:xfrm>
            <a:off x="8503920" y="3236976"/>
            <a:ext cx="224028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The gap suggests the problem is non-linear.</a:t>
            </a:r>
            <a:endParaRPr lang="en-US" sz="1310" dirty="0"/>
          </a:p>
        </p:txBody>
      </p:sp>
      <p:sp>
        <p:nvSpPr>
          <p:cNvPr id="35" name="Shape 33"/>
          <p:cNvSpPr/>
          <p:nvPr/>
        </p:nvSpPr>
        <p:spPr>
          <a:xfrm>
            <a:off x="8302752" y="3831336"/>
            <a:ext cx="100584" cy="100584"/>
          </a:xfrm>
          <a:prstGeom prst="ellipse">
            <a:avLst/>
          </a:prstGeom>
          <a:solidFill>
            <a:srgbClr val="1F5C4D"/>
          </a:solidFill>
          <a:ln w="12700">
            <a:solidFill>
              <a:srgbClr val="1F5C4D">
                <a:alpha val="0"/>
              </a:srgbClr>
            </a:solidFill>
            <a:prstDash val="solid"/>
          </a:ln>
        </p:spPr>
      </p:sp>
      <p:sp>
        <p:nvSpPr>
          <p:cNvPr id="36" name="Text 34"/>
          <p:cNvSpPr/>
          <p:nvPr/>
        </p:nvSpPr>
        <p:spPr>
          <a:xfrm>
            <a:off x="8503920" y="3730752"/>
            <a:ext cx="224028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Feature interactions matter for condition classification.</a:t>
            </a:r>
            <a:endParaRPr lang="en-US" sz="13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08</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ROC &amp; PR RESULTS</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Random Forest was the strongest model across threshold-based metrics</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ranking stayed consistent even when we looked beyond plain accuracy.</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3</a:t>
            </a:r>
            <a:endParaRPr lang="en-US" sz="1000" dirty="0"/>
          </a:p>
        </p:txBody>
      </p:sp>
      <p:sp>
        <p:nvSpPr>
          <p:cNvPr id="11" name="Shape 9"/>
          <p:cNvSpPr/>
          <p:nvPr/>
        </p:nvSpPr>
        <p:spPr>
          <a:xfrm>
            <a:off x="914400" y="2011680"/>
            <a:ext cx="4800600" cy="3154680"/>
          </a:xfrm>
          <a:prstGeom prst="roundRect">
            <a:avLst>
              <a:gd name="adj" fmla="val 2319"/>
            </a:avLst>
          </a:prstGeom>
          <a:solidFill>
            <a:srgbClr val="EFE4D0"/>
          </a:solidFill>
          <a:ln w="12700">
            <a:solidFill>
              <a:srgbClr val="EFE4D0">
                <a:alpha val="0"/>
              </a:srgbClr>
            </a:solidFill>
            <a:prstDash val="solid"/>
          </a:ln>
        </p:spPr>
      </p:sp>
      <p:sp>
        <p:nvSpPr>
          <p:cNvPr id="12" name="Text 10"/>
          <p:cNvSpPr/>
          <p:nvPr/>
        </p:nvSpPr>
        <p:spPr>
          <a:xfrm>
            <a:off x="1170432" y="2331720"/>
            <a:ext cx="1371600" cy="182880"/>
          </a:xfrm>
          <a:prstGeom prst="rect">
            <a:avLst/>
          </a:prstGeom>
          <a:noFill/>
          <a:ln/>
        </p:spPr>
        <p:txBody>
          <a:bodyPr wrap="square" lIns="0" tIns="0" rIns="0" bIns="0" rtlCol="0" anchor="ctr"/>
          <a:lstStyle/>
          <a:p>
            <a:pPr indent="0" marL="0">
              <a:buNone/>
            </a:pPr>
            <a:r>
              <a:rPr lang="en-US" sz="1800" b="1" dirty="0">
                <a:solidFill>
                  <a:srgbClr val="1B2A41"/>
                </a:solidFill>
                <a:latin typeface="Trebuchet MS" pitchFamily="34" charset="0"/>
                <a:ea typeface="Trebuchet MS" pitchFamily="34" charset="-122"/>
                <a:cs typeface="Trebuchet MS" pitchFamily="34" charset="-120"/>
              </a:rPr>
              <a:t>ROC-AUC</a:t>
            </a:r>
            <a:endParaRPr lang="en-US" sz="1800" dirty="0"/>
          </a:p>
        </p:txBody>
      </p:sp>
      <p:sp>
        <p:nvSpPr>
          <p:cNvPr id="13" name="Text 11"/>
          <p:cNvSpPr/>
          <p:nvPr/>
        </p:nvSpPr>
        <p:spPr>
          <a:xfrm>
            <a:off x="1170432" y="2743200"/>
            <a:ext cx="1554480" cy="438912"/>
          </a:xfrm>
          <a:prstGeom prst="rect">
            <a:avLst/>
          </a:prstGeom>
          <a:noFill/>
          <a:ln/>
        </p:spPr>
        <p:txBody>
          <a:bodyPr wrap="square" lIns="0" tIns="0" rIns="0" bIns="0" rtlCol="0" anchor="ctr"/>
          <a:lstStyle/>
          <a:p>
            <a:pPr indent="0" marL="0">
              <a:buNone/>
            </a:pPr>
            <a:r>
              <a:rPr lang="en-US" sz="3000" b="1" dirty="0">
                <a:solidFill>
                  <a:srgbClr val="1F5C4D"/>
                </a:solidFill>
                <a:latin typeface="Trebuchet MS" pitchFamily="34" charset="0"/>
                <a:ea typeface="Trebuchet MS" pitchFamily="34" charset="-122"/>
                <a:cs typeface="Trebuchet MS" pitchFamily="34" charset="-120"/>
              </a:rPr>
              <a:t>0.91</a:t>
            </a:r>
            <a:endParaRPr lang="en-US" sz="3000" dirty="0"/>
          </a:p>
        </p:txBody>
      </p:sp>
      <p:sp>
        <p:nvSpPr>
          <p:cNvPr id="14" name="Text 12"/>
          <p:cNvSpPr/>
          <p:nvPr/>
        </p:nvSpPr>
        <p:spPr>
          <a:xfrm>
            <a:off x="1188720" y="3291840"/>
            <a:ext cx="1828800" cy="182880"/>
          </a:xfrm>
          <a:prstGeom prst="rect">
            <a:avLst/>
          </a:prstGeom>
          <a:noFill/>
          <a:ln/>
        </p:spPr>
        <p:txBody>
          <a:bodyPr wrap="square" lIns="0" tIns="0" rIns="0" bIns="0" rtlCol="0" anchor="ctr"/>
          <a:lstStyle/>
          <a:p>
            <a:pPr indent="0" marL="0">
              <a:buNone/>
            </a:pPr>
            <a:r>
              <a:rPr lang="en-US" sz="1400" b="1" dirty="0">
                <a:solidFill>
                  <a:srgbClr val="1B2A41"/>
                </a:solidFill>
                <a:latin typeface="Aptos" pitchFamily="34" charset="0"/>
                <a:ea typeface="Aptos" pitchFamily="34" charset="-122"/>
                <a:cs typeface="Aptos" pitchFamily="34" charset="-120"/>
              </a:rPr>
              <a:t>Random Forest</a:t>
            </a:r>
            <a:endParaRPr lang="en-US" sz="1400" dirty="0"/>
          </a:p>
        </p:txBody>
      </p:sp>
      <p:sp>
        <p:nvSpPr>
          <p:cNvPr id="15" name="Text 13"/>
          <p:cNvSpPr/>
          <p:nvPr/>
        </p:nvSpPr>
        <p:spPr>
          <a:xfrm>
            <a:off x="1170432" y="3703320"/>
            <a:ext cx="4069080" cy="868680"/>
          </a:xfrm>
          <a:prstGeom prst="rect">
            <a:avLst/>
          </a:prstGeom>
          <a:noFill/>
          <a:ln/>
        </p:spPr>
        <p:txBody>
          <a:bodyPr wrap="square" lIns="0" tIns="0" rIns="0" bIns="0" rtlCol="0" anchor="ctr"/>
          <a:lstStyle/>
          <a:p>
            <a:pPr indent="0" marL="0">
              <a:buNone/>
            </a:pPr>
            <a:r>
              <a:rPr lang="en-US" sz="1260" dirty="0">
                <a:solidFill>
                  <a:srgbClr val="1B2A41"/>
                </a:solidFill>
                <a:latin typeface="Aptos" pitchFamily="34" charset="0"/>
                <a:ea typeface="Aptos" pitchFamily="34" charset="-122"/>
                <a:cs typeface="Aptos" pitchFamily="34" charset="-120"/>
              </a:rPr>
              <a:t>Notebook interpretation: all models stayed above 0.85 AUC, but Random Forest achieved the strongest separation between new and used listings.</a:t>
            </a:r>
            <a:endParaRPr lang="en-US" sz="1260" dirty="0"/>
          </a:p>
        </p:txBody>
      </p:sp>
      <p:sp>
        <p:nvSpPr>
          <p:cNvPr id="16" name="Shape 14"/>
          <p:cNvSpPr/>
          <p:nvPr/>
        </p:nvSpPr>
        <p:spPr>
          <a:xfrm>
            <a:off x="6172200" y="2011680"/>
            <a:ext cx="4800600" cy="3154680"/>
          </a:xfrm>
          <a:prstGeom prst="roundRect">
            <a:avLst>
              <a:gd name="adj" fmla="val 2319"/>
            </a:avLst>
          </a:prstGeom>
          <a:solidFill>
            <a:srgbClr val="DCEFE9"/>
          </a:solidFill>
          <a:ln w="12700">
            <a:solidFill>
              <a:srgbClr val="DCEFE9">
                <a:alpha val="0"/>
              </a:srgbClr>
            </a:solidFill>
            <a:prstDash val="solid"/>
          </a:ln>
        </p:spPr>
      </p:sp>
      <p:sp>
        <p:nvSpPr>
          <p:cNvPr id="17" name="Text 15"/>
          <p:cNvSpPr/>
          <p:nvPr/>
        </p:nvSpPr>
        <p:spPr>
          <a:xfrm>
            <a:off x="6419088" y="2331720"/>
            <a:ext cx="1371600" cy="182880"/>
          </a:xfrm>
          <a:prstGeom prst="rect">
            <a:avLst/>
          </a:prstGeom>
          <a:noFill/>
          <a:ln/>
        </p:spPr>
        <p:txBody>
          <a:bodyPr wrap="square" lIns="0" tIns="0" rIns="0" bIns="0" rtlCol="0" anchor="ctr"/>
          <a:lstStyle/>
          <a:p>
            <a:pPr indent="0" marL="0">
              <a:buNone/>
            </a:pPr>
            <a:r>
              <a:rPr lang="en-US" sz="1800" b="1" dirty="0">
                <a:solidFill>
                  <a:srgbClr val="1B2A41"/>
                </a:solidFill>
                <a:latin typeface="Trebuchet MS" pitchFamily="34" charset="0"/>
                <a:ea typeface="Trebuchet MS" pitchFamily="34" charset="-122"/>
                <a:cs typeface="Trebuchet MS" pitchFamily="34" charset="-120"/>
              </a:rPr>
              <a:t>PR-AUC</a:t>
            </a:r>
            <a:endParaRPr lang="en-US" sz="1800" dirty="0"/>
          </a:p>
        </p:txBody>
      </p:sp>
      <p:sp>
        <p:nvSpPr>
          <p:cNvPr id="18" name="Text 16"/>
          <p:cNvSpPr/>
          <p:nvPr/>
        </p:nvSpPr>
        <p:spPr>
          <a:xfrm>
            <a:off x="6419088" y="2743200"/>
            <a:ext cx="1828800" cy="384048"/>
          </a:xfrm>
          <a:prstGeom prst="rect">
            <a:avLst/>
          </a:prstGeom>
          <a:noFill/>
          <a:ln/>
        </p:spPr>
        <p:txBody>
          <a:bodyPr wrap="square" lIns="0" tIns="0" rIns="0" bIns="0" rtlCol="0" anchor="ctr"/>
          <a:lstStyle/>
          <a:p>
            <a:pPr indent="0" marL="0">
              <a:buNone/>
            </a:pPr>
            <a:r>
              <a:rPr lang="en-US" sz="2800" b="1" dirty="0">
                <a:solidFill>
                  <a:srgbClr val="1F5C4D"/>
                </a:solidFill>
                <a:latin typeface="Trebuchet MS" pitchFamily="34" charset="0"/>
                <a:ea typeface="Trebuchet MS" pitchFamily="34" charset="-122"/>
                <a:cs typeface="Trebuchet MS" pitchFamily="34" charset="-120"/>
              </a:rPr>
              <a:t>Highest</a:t>
            </a:r>
            <a:endParaRPr lang="en-US" sz="2800" dirty="0"/>
          </a:p>
        </p:txBody>
      </p:sp>
      <p:sp>
        <p:nvSpPr>
          <p:cNvPr id="19" name="Text 17"/>
          <p:cNvSpPr/>
          <p:nvPr/>
        </p:nvSpPr>
        <p:spPr>
          <a:xfrm>
            <a:off x="6437376" y="3273552"/>
            <a:ext cx="1828800" cy="182880"/>
          </a:xfrm>
          <a:prstGeom prst="rect">
            <a:avLst/>
          </a:prstGeom>
          <a:noFill/>
          <a:ln/>
        </p:spPr>
        <p:txBody>
          <a:bodyPr wrap="square" lIns="0" tIns="0" rIns="0" bIns="0" rtlCol="0" anchor="ctr"/>
          <a:lstStyle/>
          <a:p>
            <a:pPr indent="0" marL="0">
              <a:buNone/>
            </a:pPr>
            <a:r>
              <a:rPr lang="en-US" sz="1400" b="1" dirty="0">
                <a:solidFill>
                  <a:srgbClr val="1B2A41"/>
                </a:solidFill>
                <a:latin typeface="Aptos" pitchFamily="34" charset="0"/>
                <a:ea typeface="Aptos" pitchFamily="34" charset="-122"/>
                <a:cs typeface="Aptos" pitchFamily="34" charset="-120"/>
              </a:rPr>
              <a:t>Random Forest</a:t>
            </a:r>
            <a:endParaRPr lang="en-US" sz="1400" dirty="0"/>
          </a:p>
        </p:txBody>
      </p:sp>
      <p:sp>
        <p:nvSpPr>
          <p:cNvPr id="20" name="Text 18"/>
          <p:cNvSpPr/>
          <p:nvPr/>
        </p:nvSpPr>
        <p:spPr>
          <a:xfrm>
            <a:off x="6419088" y="3703320"/>
            <a:ext cx="4069080" cy="868680"/>
          </a:xfrm>
          <a:prstGeom prst="rect">
            <a:avLst/>
          </a:prstGeom>
          <a:noFill/>
          <a:ln/>
        </p:spPr>
        <p:txBody>
          <a:bodyPr wrap="square" lIns="0" tIns="0" rIns="0" bIns="0" rtlCol="0" anchor="ctr"/>
          <a:lstStyle/>
          <a:p>
            <a:pPr indent="0" marL="0">
              <a:buNone/>
            </a:pPr>
            <a:r>
              <a:rPr lang="en-US" sz="1260" dirty="0">
                <a:solidFill>
                  <a:srgbClr val="1B2A41"/>
                </a:solidFill>
                <a:latin typeface="Aptos" pitchFamily="34" charset="0"/>
                <a:ea typeface="Aptos" pitchFamily="34" charset="-122"/>
                <a:cs typeface="Aptos" pitchFamily="34" charset="-120"/>
              </a:rPr>
              <a:t>Precision-recall is especially important here because we care about correctly finding used products, and Random Forest had the best balance across thresholds.</a:t>
            </a:r>
            <a:endParaRPr lang="en-US" sz="1260" dirty="0"/>
          </a:p>
        </p:txBody>
      </p:sp>
      <p:sp>
        <p:nvSpPr>
          <p:cNvPr id="21" name="Shape 19"/>
          <p:cNvSpPr/>
          <p:nvPr/>
        </p:nvSpPr>
        <p:spPr>
          <a:xfrm>
            <a:off x="777240" y="5486400"/>
            <a:ext cx="10698480" cy="658368"/>
          </a:xfrm>
          <a:prstGeom prst="roundRect">
            <a:avLst>
              <a:gd name="adj" fmla="val 11111"/>
            </a:avLst>
          </a:prstGeom>
          <a:solidFill>
            <a:srgbClr val="F7E1D9"/>
          </a:solidFill>
          <a:ln w="12700">
            <a:solidFill>
              <a:srgbClr val="F7E1D9">
                <a:alpha val="0"/>
              </a:srgbClr>
            </a:solidFill>
            <a:prstDash val="solid"/>
          </a:ln>
        </p:spPr>
      </p:sp>
      <p:sp>
        <p:nvSpPr>
          <p:cNvPr id="22" name="Text 20"/>
          <p:cNvSpPr/>
          <p:nvPr/>
        </p:nvSpPr>
        <p:spPr>
          <a:xfrm>
            <a:off x="1005840" y="562356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Random Forest performs best across all metrics, especially in detecting used products.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09</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KEY INSIGHTS</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The model learns seller behavior more than direct product condition</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This is the most important slide because it changes the interpretation of the whole project.</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4</a:t>
            </a:r>
            <a:endParaRPr lang="en-US" sz="1000" dirty="0"/>
          </a:p>
        </p:txBody>
      </p:sp>
      <p:sp>
        <p:nvSpPr>
          <p:cNvPr id="11" name="Shape 9"/>
          <p:cNvSpPr/>
          <p:nvPr/>
        </p:nvSpPr>
        <p:spPr>
          <a:xfrm>
            <a:off x="868680" y="2011680"/>
            <a:ext cx="4709160" cy="3566160"/>
          </a:xfrm>
          <a:prstGeom prst="roundRect">
            <a:avLst>
              <a:gd name="adj" fmla="val 2051"/>
            </a:avLst>
          </a:prstGeom>
          <a:solidFill>
            <a:srgbClr val="F7E1D9"/>
          </a:solidFill>
          <a:ln w="12700">
            <a:solidFill>
              <a:srgbClr val="F7E1D9">
                <a:alpha val="0"/>
              </a:srgbClr>
            </a:solidFill>
            <a:prstDash val="solid"/>
          </a:ln>
        </p:spPr>
      </p:sp>
      <p:sp>
        <p:nvSpPr>
          <p:cNvPr id="12" name="Text 10"/>
          <p:cNvSpPr/>
          <p:nvPr/>
        </p:nvSpPr>
        <p:spPr>
          <a:xfrm>
            <a:off x="1143000" y="2331720"/>
            <a:ext cx="182880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Boom moment</a:t>
            </a:r>
            <a:endParaRPr lang="en-US" sz="1000" dirty="0"/>
          </a:p>
        </p:txBody>
      </p:sp>
      <p:sp>
        <p:nvSpPr>
          <p:cNvPr id="13" name="Text 11"/>
          <p:cNvSpPr/>
          <p:nvPr/>
        </p:nvSpPr>
        <p:spPr>
          <a:xfrm>
            <a:off x="1143000" y="2670048"/>
            <a:ext cx="4069080" cy="1097280"/>
          </a:xfrm>
          <a:prstGeom prst="rect">
            <a:avLst/>
          </a:prstGeom>
          <a:noFill/>
          <a:ln/>
        </p:spPr>
        <p:txBody>
          <a:bodyPr wrap="square" lIns="0" tIns="0" rIns="0" bIns="0" rtlCol="0" anchor="ctr"/>
          <a:lstStyle/>
          <a:p>
            <a:pPr indent="0" marL="0">
              <a:buNone/>
            </a:pPr>
            <a:r>
              <a:rPr lang="en-US" sz="2100" b="1" dirty="0">
                <a:solidFill>
                  <a:srgbClr val="1B2A41"/>
                </a:solidFill>
                <a:latin typeface="Trebuchet MS" pitchFamily="34" charset="0"/>
                <a:ea typeface="Trebuchet MS" pitchFamily="34" charset="-122"/>
                <a:cs typeface="Trebuchet MS" pitchFamily="34" charset="-120"/>
              </a:rPr>
              <a:t>The model is not detecting 'used' directly - it is learning seller behavior.</a:t>
            </a:r>
            <a:endParaRPr lang="en-US" sz="2100" dirty="0"/>
          </a:p>
        </p:txBody>
      </p:sp>
      <p:sp>
        <p:nvSpPr>
          <p:cNvPr id="14" name="Shape 12"/>
          <p:cNvSpPr/>
          <p:nvPr/>
        </p:nvSpPr>
        <p:spPr>
          <a:xfrm>
            <a:off x="1143000" y="4215384"/>
            <a:ext cx="100584" cy="100584"/>
          </a:xfrm>
          <a:prstGeom prst="ellipse">
            <a:avLst/>
          </a:prstGeom>
          <a:solidFill>
            <a:srgbClr val="1F5C4D"/>
          </a:solidFill>
          <a:ln w="12700">
            <a:solidFill>
              <a:srgbClr val="1F5C4D">
                <a:alpha val="0"/>
              </a:srgbClr>
            </a:solidFill>
            <a:prstDash val="solid"/>
          </a:ln>
        </p:spPr>
      </p:sp>
      <p:sp>
        <p:nvSpPr>
          <p:cNvPr id="15" name="Text 13"/>
          <p:cNvSpPr/>
          <p:nvPr/>
        </p:nvSpPr>
        <p:spPr>
          <a:xfrm>
            <a:off x="1344168" y="4114800"/>
            <a:ext cx="347472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Low inventory strongly points to used listings.</a:t>
            </a:r>
            <a:endParaRPr lang="en-US" sz="1310" dirty="0"/>
          </a:p>
        </p:txBody>
      </p:sp>
      <p:sp>
        <p:nvSpPr>
          <p:cNvPr id="16" name="Shape 14"/>
          <p:cNvSpPr/>
          <p:nvPr/>
        </p:nvSpPr>
        <p:spPr>
          <a:xfrm>
            <a:off x="1143000" y="4608576"/>
            <a:ext cx="100584" cy="100584"/>
          </a:xfrm>
          <a:prstGeom prst="ellipse">
            <a:avLst/>
          </a:prstGeom>
          <a:solidFill>
            <a:srgbClr val="1F5C4D"/>
          </a:solidFill>
          <a:ln w="12700">
            <a:solidFill>
              <a:srgbClr val="1F5C4D">
                <a:alpha val="0"/>
              </a:srgbClr>
            </a:solidFill>
            <a:prstDash val="solid"/>
          </a:ln>
        </p:spPr>
      </p:sp>
      <p:sp>
        <p:nvSpPr>
          <p:cNvPr id="17" name="Text 15"/>
          <p:cNvSpPr/>
          <p:nvPr/>
        </p:nvSpPr>
        <p:spPr>
          <a:xfrm>
            <a:off x="1344168" y="4507992"/>
            <a:ext cx="347472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No warranty is another strong used-product signal.</a:t>
            </a:r>
            <a:endParaRPr lang="en-US" sz="1310" dirty="0"/>
          </a:p>
        </p:txBody>
      </p:sp>
      <p:sp>
        <p:nvSpPr>
          <p:cNvPr id="18" name="Shape 16"/>
          <p:cNvSpPr/>
          <p:nvPr/>
        </p:nvSpPr>
        <p:spPr>
          <a:xfrm>
            <a:off x="1143000" y="5001768"/>
            <a:ext cx="100584" cy="100584"/>
          </a:xfrm>
          <a:prstGeom prst="ellipse">
            <a:avLst/>
          </a:prstGeom>
          <a:solidFill>
            <a:srgbClr val="1F5C4D"/>
          </a:solidFill>
          <a:ln w="12700">
            <a:solidFill>
              <a:srgbClr val="1F5C4D">
                <a:alpha val="0"/>
              </a:srgbClr>
            </a:solidFill>
            <a:prstDash val="solid"/>
          </a:ln>
        </p:spPr>
      </p:sp>
      <p:sp>
        <p:nvSpPr>
          <p:cNvPr id="19" name="Text 17"/>
          <p:cNvSpPr/>
          <p:nvPr/>
        </p:nvSpPr>
        <p:spPr>
          <a:xfrm>
            <a:off x="1344168" y="4901184"/>
            <a:ext cx="3474720" cy="292608"/>
          </a:xfrm>
          <a:prstGeom prst="rect">
            <a:avLst/>
          </a:prstGeom>
          <a:noFill/>
          <a:ln/>
        </p:spPr>
        <p:txBody>
          <a:bodyPr wrap="square" lIns="0" tIns="0" rIns="0" bIns="0" rtlCol="0" anchor="ctr"/>
          <a:lstStyle/>
          <a:p>
            <a:pPr indent="0" marL="0">
              <a:buNone/>
            </a:pPr>
            <a:r>
              <a:rPr lang="en-US" sz="1310" dirty="0">
                <a:solidFill>
                  <a:srgbClr val="1B2A41"/>
                </a:solidFill>
                <a:latin typeface="Aptos" pitchFamily="34" charset="0"/>
                <a:ea typeface="Aptos" pitchFamily="34" charset="-122"/>
                <a:cs typeface="Aptos" pitchFamily="34" charset="-120"/>
              </a:rPr>
              <a:t>Free listing types are heavily associated with casual sellers.</a:t>
            </a:r>
            <a:endParaRPr lang="en-US" sz="1310" dirty="0"/>
          </a:p>
        </p:txBody>
      </p:sp>
      <p:sp>
        <p:nvSpPr>
          <p:cNvPr id="20" name="Shape 18"/>
          <p:cNvSpPr/>
          <p:nvPr/>
        </p:nvSpPr>
        <p:spPr>
          <a:xfrm>
            <a:off x="5897880" y="2011680"/>
            <a:ext cx="5257800" cy="3566160"/>
          </a:xfrm>
          <a:prstGeom prst="roundRect">
            <a:avLst>
              <a:gd name="adj" fmla="val 2051"/>
            </a:avLst>
          </a:prstGeom>
          <a:solidFill>
            <a:srgbClr val="FFFFFF"/>
          </a:solidFill>
          <a:ln w="12700">
            <a:solidFill>
              <a:srgbClr val="D8D1C4"/>
            </a:solidFill>
            <a:prstDash val="solid"/>
          </a:ln>
        </p:spPr>
      </p:sp>
      <p:sp>
        <p:nvSpPr>
          <p:cNvPr id="21" name="Text 19"/>
          <p:cNvSpPr/>
          <p:nvPr/>
        </p:nvSpPr>
        <p:spPr>
          <a:xfrm>
            <a:off x="6144768" y="2304288"/>
            <a:ext cx="283464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Top Random Forest drivers</a:t>
            </a:r>
            <a:endParaRPr lang="en-US" sz="1700" dirty="0"/>
          </a:p>
        </p:txBody>
      </p:sp>
      <p:sp>
        <p:nvSpPr>
          <p:cNvPr id="22" name="Text 20"/>
          <p:cNvSpPr/>
          <p:nvPr/>
        </p:nvSpPr>
        <p:spPr>
          <a:xfrm>
            <a:off x="6144768" y="2743200"/>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listing_type_id_free</a:t>
            </a:r>
            <a:endParaRPr lang="en-US" sz="1200" dirty="0"/>
          </a:p>
        </p:txBody>
      </p:sp>
      <p:sp>
        <p:nvSpPr>
          <p:cNvPr id="23" name="Shape 21"/>
          <p:cNvSpPr/>
          <p:nvPr/>
        </p:nvSpPr>
        <p:spPr>
          <a:xfrm>
            <a:off x="8202168" y="2761488"/>
            <a:ext cx="1691640" cy="164592"/>
          </a:xfrm>
          <a:prstGeom prst="roundRect">
            <a:avLst>
              <a:gd name="adj" fmla="val 16667"/>
            </a:avLst>
          </a:prstGeom>
          <a:solidFill>
            <a:srgbClr val="EFE4D0"/>
          </a:solidFill>
          <a:ln w="12700">
            <a:solidFill>
              <a:srgbClr val="EFE4D0">
                <a:alpha val="0"/>
              </a:srgbClr>
            </a:solidFill>
            <a:prstDash val="solid"/>
          </a:ln>
        </p:spPr>
      </p:sp>
      <p:sp>
        <p:nvSpPr>
          <p:cNvPr id="24" name="Shape 22"/>
          <p:cNvSpPr/>
          <p:nvPr/>
        </p:nvSpPr>
        <p:spPr>
          <a:xfrm>
            <a:off x="8202168" y="2761488"/>
            <a:ext cx="1640059" cy="164592"/>
          </a:xfrm>
          <a:prstGeom prst="roundRect">
            <a:avLst>
              <a:gd name="adj" fmla="val 16667"/>
            </a:avLst>
          </a:prstGeom>
          <a:solidFill>
            <a:srgbClr val="E76F51"/>
          </a:solidFill>
          <a:ln w="12700">
            <a:solidFill>
              <a:srgbClr val="E76F51">
                <a:alpha val="0"/>
              </a:srgbClr>
            </a:solidFill>
            <a:prstDash val="solid"/>
          </a:ln>
        </p:spPr>
      </p:sp>
      <p:sp>
        <p:nvSpPr>
          <p:cNvPr id="25" name="Text 23"/>
          <p:cNvSpPr/>
          <p:nvPr/>
        </p:nvSpPr>
        <p:spPr>
          <a:xfrm>
            <a:off x="10030968" y="2724912"/>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0.242</a:t>
            </a:r>
            <a:endParaRPr lang="en-US" sz="1200" dirty="0"/>
          </a:p>
        </p:txBody>
      </p:sp>
      <p:sp>
        <p:nvSpPr>
          <p:cNvPr id="26" name="Text 24"/>
          <p:cNvSpPr/>
          <p:nvPr/>
        </p:nvSpPr>
        <p:spPr>
          <a:xfrm>
            <a:off x="6144768" y="3218688"/>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available_quantity</a:t>
            </a:r>
            <a:endParaRPr lang="en-US" sz="1200" dirty="0"/>
          </a:p>
        </p:txBody>
      </p:sp>
      <p:sp>
        <p:nvSpPr>
          <p:cNvPr id="27" name="Shape 25"/>
          <p:cNvSpPr/>
          <p:nvPr/>
        </p:nvSpPr>
        <p:spPr>
          <a:xfrm>
            <a:off x="8202168" y="3236976"/>
            <a:ext cx="1691640" cy="164592"/>
          </a:xfrm>
          <a:prstGeom prst="roundRect">
            <a:avLst>
              <a:gd name="adj" fmla="val 16667"/>
            </a:avLst>
          </a:prstGeom>
          <a:solidFill>
            <a:srgbClr val="EFE4D0"/>
          </a:solidFill>
          <a:ln w="12700">
            <a:solidFill>
              <a:srgbClr val="EFE4D0">
                <a:alpha val="0"/>
              </a:srgbClr>
            </a:solidFill>
            <a:prstDash val="solid"/>
          </a:ln>
        </p:spPr>
      </p:sp>
      <p:sp>
        <p:nvSpPr>
          <p:cNvPr id="28" name="Shape 26"/>
          <p:cNvSpPr/>
          <p:nvPr/>
        </p:nvSpPr>
        <p:spPr>
          <a:xfrm>
            <a:off x="8202168" y="3236976"/>
            <a:ext cx="1524479" cy="164592"/>
          </a:xfrm>
          <a:prstGeom prst="roundRect">
            <a:avLst>
              <a:gd name="adj" fmla="val 16667"/>
            </a:avLst>
          </a:prstGeom>
          <a:solidFill>
            <a:srgbClr val="1F5C4D"/>
          </a:solidFill>
          <a:ln w="12700">
            <a:solidFill>
              <a:srgbClr val="1F5C4D">
                <a:alpha val="0"/>
              </a:srgbClr>
            </a:solidFill>
            <a:prstDash val="solid"/>
          </a:ln>
        </p:spPr>
      </p:sp>
      <p:sp>
        <p:nvSpPr>
          <p:cNvPr id="29" name="Text 27"/>
          <p:cNvSpPr/>
          <p:nvPr/>
        </p:nvSpPr>
        <p:spPr>
          <a:xfrm>
            <a:off x="10030968" y="3200400"/>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0.225</a:t>
            </a:r>
            <a:endParaRPr lang="en-US" sz="1200" dirty="0"/>
          </a:p>
        </p:txBody>
      </p:sp>
      <p:sp>
        <p:nvSpPr>
          <p:cNvPr id="30" name="Text 28"/>
          <p:cNvSpPr/>
          <p:nvPr/>
        </p:nvSpPr>
        <p:spPr>
          <a:xfrm>
            <a:off x="6144768" y="3694176"/>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initial_quantity</a:t>
            </a:r>
            <a:endParaRPr lang="en-US" sz="1200" dirty="0"/>
          </a:p>
        </p:txBody>
      </p:sp>
      <p:sp>
        <p:nvSpPr>
          <p:cNvPr id="31" name="Shape 29"/>
          <p:cNvSpPr/>
          <p:nvPr/>
        </p:nvSpPr>
        <p:spPr>
          <a:xfrm>
            <a:off x="8202168" y="3712464"/>
            <a:ext cx="1691640" cy="164592"/>
          </a:xfrm>
          <a:prstGeom prst="roundRect">
            <a:avLst>
              <a:gd name="adj" fmla="val 16667"/>
            </a:avLst>
          </a:prstGeom>
          <a:solidFill>
            <a:srgbClr val="EFE4D0"/>
          </a:solidFill>
          <a:ln w="12700">
            <a:solidFill>
              <a:srgbClr val="EFE4D0">
                <a:alpha val="0"/>
              </a:srgbClr>
            </a:solidFill>
            <a:prstDash val="solid"/>
          </a:ln>
        </p:spPr>
      </p:sp>
      <p:sp>
        <p:nvSpPr>
          <p:cNvPr id="32" name="Shape 30"/>
          <p:cNvSpPr/>
          <p:nvPr/>
        </p:nvSpPr>
        <p:spPr>
          <a:xfrm>
            <a:off x="8202168" y="3712464"/>
            <a:ext cx="1363990" cy="164592"/>
          </a:xfrm>
          <a:prstGeom prst="roundRect">
            <a:avLst>
              <a:gd name="adj" fmla="val 16667"/>
            </a:avLst>
          </a:prstGeom>
          <a:solidFill>
            <a:srgbClr val="2A9D8F"/>
          </a:solidFill>
          <a:ln w="12700">
            <a:solidFill>
              <a:srgbClr val="2A9D8F">
                <a:alpha val="0"/>
              </a:srgbClr>
            </a:solidFill>
            <a:prstDash val="solid"/>
          </a:ln>
        </p:spPr>
      </p:sp>
      <p:sp>
        <p:nvSpPr>
          <p:cNvPr id="33" name="Text 31"/>
          <p:cNvSpPr/>
          <p:nvPr/>
        </p:nvSpPr>
        <p:spPr>
          <a:xfrm>
            <a:off x="10030968" y="3675888"/>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0.202</a:t>
            </a:r>
            <a:endParaRPr lang="en-US" sz="1200" dirty="0"/>
          </a:p>
        </p:txBody>
      </p:sp>
      <p:sp>
        <p:nvSpPr>
          <p:cNvPr id="34" name="Text 32"/>
          <p:cNvSpPr/>
          <p:nvPr/>
        </p:nvSpPr>
        <p:spPr>
          <a:xfrm>
            <a:off x="6144768" y="4169664"/>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sold_quantity</a:t>
            </a:r>
            <a:endParaRPr lang="en-US" sz="1200" dirty="0"/>
          </a:p>
        </p:txBody>
      </p:sp>
      <p:sp>
        <p:nvSpPr>
          <p:cNvPr id="35" name="Shape 33"/>
          <p:cNvSpPr/>
          <p:nvPr/>
        </p:nvSpPr>
        <p:spPr>
          <a:xfrm>
            <a:off x="8202168" y="4187952"/>
            <a:ext cx="1691640" cy="164592"/>
          </a:xfrm>
          <a:prstGeom prst="roundRect">
            <a:avLst>
              <a:gd name="adj" fmla="val 16667"/>
            </a:avLst>
          </a:prstGeom>
          <a:solidFill>
            <a:srgbClr val="EFE4D0"/>
          </a:solidFill>
          <a:ln w="12700">
            <a:solidFill>
              <a:srgbClr val="EFE4D0">
                <a:alpha val="0"/>
              </a:srgbClr>
            </a:solidFill>
            <a:prstDash val="solid"/>
          </a:ln>
        </p:spPr>
      </p:sp>
      <p:sp>
        <p:nvSpPr>
          <p:cNvPr id="36" name="Shape 34"/>
          <p:cNvSpPr/>
          <p:nvPr/>
        </p:nvSpPr>
        <p:spPr>
          <a:xfrm>
            <a:off x="8202168" y="4187952"/>
            <a:ext cx="613876" cy="164592"/>
          </a:xfrm>
          <a:prstGeom prst="roundRect">
            <a:avLst>
              <a:gd name="adj" fmla="val 16667"/>
            </a:avLst>
          </a:prstGeom>
          <a:solidFill>
            <a:srgbClr val="D6A64F"/>
          </a:solidFill>
          <a:ln w="12700">
            <a:solidFill>
              <a:srgbClr val="D6A64F">
                <a:alpha val="0"/>
              </a:srgbClr>
            </a:solidFill>
            <a:prstDash val="solid"/>
          </a:ln>
        </p:spPr>
      </p:sp>
      <p:sp>
        <p:nvSpPr>
          <p:cNvPr id="37" name="Text 35"/>
          <p:cNvSpPr/>
          <p:nvPr/>
        </p:nvSpPr>
        <p:spPr>
          <a:xfrm>
            <a:off x="10030968" y="4151376"/>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0.091</a:t>
            </a:r>
            <a:endParaRPr lang="en-US" sz="1200" dirty="0"/>
          </a:p>
        </p:txBody>
      </p:sp>
      <p:sp>
        <p:nvSpPr>
          <p:cNvPr id="38" name="Text 36"/>
          <p:cNvSpPr/>
          <p:nvPr/>
        </p:nvSpPr>
        <p:spPr>
          <a:xfrm>
            <a:off x="6144768" y="4645152"/>
            <a:ext cx="1965960" cy="182880"/>
          </a:xfrm>
          <a:prstGeom prst="rect">
            <a:avLst/>
          </a:prstGeom>
          <a:noFill/>
          <a:ln/>
        </p:spPr>
        <p:txBody>
          <a:bodyPr wrap="square" lIns="0" tIns="0" rIns="0" bIns="0" rtlCol="0" anchor="ctr"/>
          <a:lstStyle/>
          <a:p>
            <a:pPr indent="0" marL="0">
              <a:buNone/>
            </a:pPr>
            <a:r>
              <a:rPr lang="en-US" sz="1200" dirty="0">
                <a:solidFill>
                  <a:srgbClr val="1B2A41"/>
                </a:solidFill>
                <a:latin typeface="Aptos" pitchFamily="34" charset="0"/>
                <a:ea typeface="Aptos" pitchFamily="34" charset="-122"/>
                <a:cs typeface="Aptos" pitchFamily="34" charset="-120"/>
              </a:rPr>
              <a:t>listing_age_days</a:t>
            </a:r>
            <a:endParaRPr lang="en-US" sz="1200" dirty="0"/>
          </a:p>
        </p:txBody>
      </p:sp>
      <p:sp>
        <p:nvSpPr>
          <p:cNvPr id="39" name="Shape 37"/>
          <p:cNvSpPr/>
          <p:nvPr/>
        </p:nvSpPr>
        <p:spPr>
          <a:xfrm>
            <a:off x="8202168" y="4663440"/>
            <a:ext cx="1691640" cy="164592"/>
          </a:xfrm>
          <a:prstGeom prst="roundRect">
            <a:avLst>
              <a:gd name="adj" fmla="val 16667"/>
            </a:avLst>
          </a:prstGeom>
          <a:solidFill>
            <a:srgbClr val="EFE4D0"/>
          </a:solidFill>
          <a:ln w="12700">
            <a:solidFill>
              <a:srgbClr val="EFE4D0">
                <a:alpha val="0"/>
              </a:srgbClr>
            </a:solidFill>
            <a:prstDash val="solid"/>
          </a:ln>
        </p:spPr>
      </p:sp>
      <p:sp>
        <p:nvSpPr>
          <p:cNvPr id="40" name="Shape 38"/>
          <p:cNvSpPr/>
          <p:nvPr/>
        </p:nvSpPr>
        <p:spPr>
          <a:xfrm>
            <a:off x="8202168" y="4663440"/>
            <a:ext cx="333693" cy="164592"/>
          </a:xfrm>
          <a:prstGeom prst="roundRect">
            <a:avLst>
              <a:gd name="adj" fmla="val 16667"/>
            </a:avLst>
          </a:prstGeom>
          <a:solidFill>
            <a:srgbClr val="5C6770"/>
          </a:solidFill>
          <a:ln w="12700">
            <a:solidFill>
              <a:srgbClr val="5C6770">
                <a:alpha val="0"/>
              </a:srgbClr>
            </a:solidFill>
            <a:prstDash val="solid"/>
          </a:ln>
        </p:spPr>
      </p:sp>
      <p:sp>
        <p:nvSpPr>
          <p:cNvPr id="41" name="Text 39"/>
          <p:cNvSpPr/>
          <p:nvPr/>
        </p:nvSpPr>
        <p:spPr>
          <a:xfrm>
            <a:off x="10030968" y="4626864"/>
            <a:ext cx="640080" cy="201168"/>
          </a:xfrm>
          <a:prstGeom prst="rect">
            <a:avLst/>
          </a:prstGeom>
          <a:noFill/>
          <a:ln/>
        </p:spPr>
        <p:txBody>
          <a:bodyPr wrap="square" lIns="0" tIns="0" rIns="0" bIns="0" rtlCol="0" anchor="ctr"/>
          <a:lstStyle/>
          <a:p>
            <a:pPr indent="0" marL="0">
              <a:buNone/>
            </a:pPr>
            <a:r>
              <a:rPr lang="en-US" sz="1200" b="1" dirty="0">
                <a:solidFill>
                  <a:srgbClr val="1B2A41"/>
                </a:solidFill>
                <a:latin typeface="Aptos" pitchFamily="34" charset="0"/>
                <a:ea typeface="Aptos" pitchFamily="34" charset="-122"/>
                <a:cs typeface="Aptos" pitchFamily="34" charset="-120"/>
              </a:rPr>
              <a:t>0.049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10</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MARKETPLACE INSIGHT</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From classification to behavioral segmentation</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classifier can be reinterpreted as a segmentation model for seller types.</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4</a:t>
            </a:r>
            <a:endParaRPr lang="en-US" sz="1000" dirty="0"/>
          </a:p>
        </p:txBody>
      </p:sp>
      <p:sp>
        <p:nvSpPr>
          <p:cNvPr id="11" name="Shape 9"/>
          <p:cNvSpPr/>
          <p:nvPr/>
        </p:nvSpPr>
        <p:spPr>
          <a:xfrm>
            <a:off x="804672" y="2057400"/>
            <a:ext cx="10607040" cy="3520440"/>
          </a:xfrm>
          <a:prstGeom prst="roundRect">
            <a:avLst>
              <a:gd name="adj" fmla="val 2078"/>
            </a:avLst>
          </a:prstGeom>
          <a:solidFill>
            <a:srgbClr val="FFFFFF"/>
          </a:solidFill>
          <a:ln w="12700">
            <a:solidFill>
              <a:srgbClr val="D8D1C4"/>
            </a:solidFill>
            <a:prstDash val="solid"/>
          </a:ln>
        </p:spPr>
      </p:sp>
      <p:sp>
        <p:nvSpPr>
          <p:cNvPr id="12" name="Shape 10"/>
          <p:cNvSpPr/>
          <p:nvPr/>
        </p:nvSpPr>
        <p:spPr>
          <a:xfrm>
            <a:off x="1005840" y="2267712"/>
            <a:ext cx="4892040" cy="420624"/>
          </a:xfrm>
          <a:prstGeom prst="roundRect">
            <a:avLst>
              <a:gd name="adj" fmla="val 10870"/>
            </a:avLst>
          </a:prstGeom>
          <a:solidFill>
            <a:srgbClr val="EFE4D0"/>
          </a:solidFill>
          <a:ln w="12700">
            <a:solidFill>
              <a:srgbClr val="EFE4D0">
                <a:alpha val="0"/>
              </a:srgbClr>
            </a:solidFill>
            <a:prstDash val="solid"/>
          </a:ln>
        </p:spPr>
      </p:sp>
      <p:sp>
        <p:nvSpPr>
          <p:cNvPr id="13" name="Shape 11"/>
          <p:cNvSpPr/>
          <p:nvPr/>
        </p:nvSpPr>
        <p:spPr>
          <a:xfrm>
            <a:off x="6272784" y="2267712"/>
            <a:ext cx="4526280" cy="420624"/>
          </a:xfrm>
          <a:prstGeom prst="roundRect">
            <a:avLst>
              <a:gd name="adj" fmla="val 10870"/>
            </a:avLst>
          </a:prstGeom>
          <a:solidFill>
            <a:srgbClr val="DCEFE9"/>
          </a:solidFill>
          <a:ln w="12700">
            <a:solidFill>
              <a:srgbClr val="DCEFE9">
                <a:alpha val="0"/>
              </a:srgbClr>
            </a:solidFill>
            <a:prstDash val="solid"/>
          </a:ln>
        </p:spPr>
      </p:sp>
      <p:sp>
        <p:nvSpPr>
          <p:cNvPr id="14" name="Text 12"/>
          <p:cNvSpPr/>
          <p:nvPr/>
        </p:nvSpPr>
        <p:spPr>
          <a:xfrm>
            <a:off x="1097280" y="2386584"/>
            <a:ext cx="4663440" cy="164592"/>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Casual sellers</a:t>
            </a:r>
            <a:endParaRPr lang="en-US" sz="1600" dirty="0"/>
          </a:p>
        </p:txBody>
      </p:sp>
      <p:sp>
        <p:nvSpPr>
          <p:cNvPr id="15" name="Text 13"/>
          <p:cNvSpPr/>
          <p:nvPr/>
        </p:nvSpPr>
        <p:spPr>
          <a:xfrm>
            <a:off x="6382512" y="2386584"/>
            <a:ext cx="4297680" cy="164592"/>
          </a:xfrm>
          <a:prstGeom prst="rect">
            <a:avLst/>
          </a:prstGeom>
          <a:noFill/>
          <a:ln/>
        </p:spPr>
        <p:txBody>
          <a:bodyPr wrap="square" lIns="0" tIns="0" rIns="0" bIns="0" rtlCol="0" anchor="ctr"/>
          <a:lstStyle/>
          <a:p>
            <a:pPr indent="0" marL="0">
              <a:buNone/>
            </a:pPr>
            <a:r>
              <a:rPr lang="en-US" sz="1600" b="1" dirty="0">
                <a:solidFill>
                  <a:srgbClr val="1B2A41"/>
                </a:solidFill>
                <a:latin typeface="Trebuchet MS" pitchFamily="34" charset="0"/>
                <a:ea typeface="Trebuchet MS" pitchFamily="34" charset="-122"/>
                <a:cs typeface="Trebuchet MS" pitchFamily="34" charset="-120"/>
              </a:rPr>
              <a:t>Professional sellers</a:t>
            </a:r>
            <a:endParaRPr lang="en-US" sz="1600" dirty="0"/>
          </a:p>
        </p:txBody>
      </p:sp>
      <p:sp>
        <p:nvSpPr>
          <p:cNvPr id="16" name="Text 14"/>
          <p:cNvSpPr/>
          <p:nvPr/>
        </p:nvSpPr>
        <p:spPr>
          <a:xfrm>
            <a:off x="1115568" y="2852928"/>
            <a:ext cx="822960" cy="146304"/>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CONDITION</a:t>
            </a:r>
            <a:endParaRPr lang="en-US" sz="850" dirty="0"/>
          </a:p>
        </p:txBody>
      </p:sp>
      <p:sp>
        <p:nvSpPr>
          <p:cNvPr id="17" name="Text 15"/>
          <p:cNvSpPr/>
          <p:nvPr/>
        </p:nvSpPr>
        <p:spPr>
          <a:xfrm>
            <a:off x="2103120" y="2834640"/>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Used</a:t>
            </a:r>
            <a:endParaRPr lang="en-US" sz="1400" dirty="0"/>
          </a:p>
        </p:txBody>
      </p:sp>
      <p:sp>
        <p:nvSpPr>
          <p:cNvPr id="18" name="Text 16"/>
          <p:cNvSpPr/>
          <p:nvPr/>
        </p:nvSpPr>
        <p:spPr>
          <a:xfrm>
            <a:off x="6547104" y="2834640"/>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New</a:t>
            </a:r>
            <a:endParaRPr lang="en-US" sz="1400" dirty="0"/>
          </a:p>
        </p:txBody>
      </p:sp>
      <p:sp>
        <p:nvSpPr>
          <p:cNvPr id="19" name="Shape 17"/>
          <p:cNvSpPr/>
          <p:nvPr/>
        </p:nvSpPr>
        <p:spPr>
          <a:xfrm>
            <a:off x="1097280" y="3163824"/>
            <a:ext cx="9601200" cy="0"/>
          </a:xfrm>
          <a:prstGeom prst="line">
            <a:avLst/>
          </a:prstGeom>
          <a:noFill/>
          <a:ln w="12700">
            <a:solidFill>
              <a:srgbClr val="D8D1C4"/>
            </a:solidFill>
            <a:prstDash val="solid"/>
          </a:ln>
        </p:spPr>
      </p:sp>
      <p:sp>
        <p:nvSpPr>
          <p:cNvPr id="20" name="Text 18"/>
          <p:cNvSpPr/>
          <p:nvPr/>
        </p:nvSpPr>
        <p:spPr>
          <a:xfrm>
            <a:off x="1115568" y="3383280"/>
            <a:ext cx="822960" cy="146304"/>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INVENTORY</a:t>
            </a:r>
            <a:endParaRPr lang="en-US" sz="850" dirty="0"/>
          </a:p>
        </p:txBody>
      </p:sp>
      <p:sp>
        <p:nvSpPr>
          <p:cNvPr id="21" name="Text 19"/>
          <p:cNvSpPr/>
          <p:nvPr/>
        </p:nvSpPr>
        <p:spPr>
          <a:xfrm>
            <a:off x="2103120" y="3364992"/>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Low inventory</a:t>
            </a:r>
            <a:endParaRPr lang="en-US" sz="1400" dirty="0"/>
          </a:p>
        </p:txBody>
      </p:sp>
      <p:sp>
        <p:nvSpPr>
          <p:cNvPr id="22" name="Text 20"/>
          <p:cNvSpPr/>
          <p:nvPr/>
        </p:nvSpPr>
        <p:spPr>
          <a:xfrm>
            <a:off x="6547104" y="3364992"/>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High inventory</a:t>
            </a:r>
            <a:endParaRPr lang="en-US" sz="1400" dirty="0"/>
          </a:p>
        </p:txBody>
      </p:sp>
      <p:sp>
        <p:nvSpPr>
          <p:cNvPr id="23" name="Shape 21"/>
          <p:cNvSpPr/>
          <p:nvPr/>
        </p:nvSpPr>
        <p:spPr>
          <a:xfrm>
            <a:off x="1097280" y="3694176"/>
            <a:ext cx="9601200" cy="0"/>
          </a:xfrm>
          <a:prstGeom prst="line">
            <a:avLst/>
          </a:prstGeom>
          <a:noFill/>
          <a:ln w="12700">
            <a:solidFill>
              <a:srgbClr val="D8D1C4"/>
            </a:solidFill>
            <a:prstDash val="solid"/>
          </a:ln>
        </p:spPr>
      </p:sp>
      <p:sp>
        <p:nvSpPr>
          <p:cNvPr id="24" name="Text 22"/>
          <p:cNvSpPr/>
          <p:nvPr/>
        </p:nvSpPr>
        <p:spPr>
          <a:xfrm>
            <a:off x="1115568" y="3913632"/>
            <a:ext cx="822960" cy="146304"/>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LISTING TYPE</a:t>
            </a:r>
            <a:endParaRPr lang="en-US" sz="850" dirty="0"/>
          </a:p>
        </p:txBody>
      </p:sp>
      <p:sp>
        <p:nvSpPr>
          <p:cNvPr id="25" name="Text 23"/>
          <p:cNvSpPr/>
          <p:nvPr/>
        </p:nvSpPr>
        <p:spPr>
          <a:xfrm>
            <a:off x="2103120" y="3895344"/>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Free listing</a:t>
            </a:r>
            <a:endParaRPr lang="en-US" sz="1400" dirty="0"/>
          </a:p>
        </p:txBody>
      </p:sp>
      <p:sp>
        <p:nvSpPr>
          <p:cNvPr id="26" name="Text 24"/>
          <p:cNvSpPr/>
          <p:nvPr/>
        </p:nvSpPr>
        <p:spPr>
          <a:xfrm>
            <a:off x="6547104" y="3895344"/>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Paid listing</a:t>
            </a:r>
            <a:endParaRPr lang="en-US" sz="1400" dirty="0"/>
          </a:p>
        </p:txBody>
      </p:sp>
      <p:sp>
        <p:nvSpPr>
          <p:cNvPr id="27" name="Shape 25"/>
          <p:cNvSpPr/>
          <p:nvPr/>
        </p:nvSpPr>
        <p:spPr>
          <a:xfrm>
            <a:off x="1097280" y="4224528"/>
            <a:ext cx="9601200" cy="0"/>
          </a:xfrm>
          <a:prstGeom prst="line">
            <a:avLst/>
          </a:prstGeom>
          <a:noFill/>
          <a:ln w="12700">
            <a:solidFill>
              <a:srgbClr val="D8D1C4"/>
            </a:solidFill>
            <a:prstDash val="solid"/>
          </a:ln>
        </p:spPr>
      </p:sp>
      <p:sp>
        <p:nvSpPr>
          <p:cNvPr id="28" name="Text 26"/>
          <p:cNvSpPr/>
          <p:nvPr/>
        </p:nvSpPr>
        <p:spPr>
          <a:xfrm>
            <a:off x="1115568" y="4443984"/>
            <a:ext cx="822960" cy="146304"/>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WARRANTY</a:t>
            </a:r>
            <a:endParaRPr lang="en-US" sz="850" dirty="0"/>
          </a:p>
        </p:txBody>
      </p:sp>
      <p:sp>
        <p:nvSpPr>
          <p:cNvPr id="29" name="Text 27"/>
          <p:cNvSpPr/>
          <p:nvPr/>
        </p:nvSpPr>
        <p:spPr>
          <a:xfrm>
            <a:off x="2103120" y="4425696"/>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Often none</a:t>
            </a:r>
            <a:endParaRPr lang="en-US" sz="1400" dirty="0"/>
          </a:p>
        </p:txBody>
      </p:sp>
      <p:sp>
        <p:nvSpPr>
          <p:cNvPr id="30" name="Text 28"/>
          <p:cNvSpPr/>
          <p:nvPr/>
        </p:nvSpPr>
        <p:spPr>
          <a:xfrm>
            <a:off x="6547104" y="4425696"/>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Often present</a:t>
            </a:r>
            <a:endParaRPr lang="en-US" sz="1400" dirty="0"/>
          </a:p>
        </p:txBody>
      </p:sp>
      <p:sp>
        <p:nvSpPr>
          <p:cNvPr id="31" name="Shape 29"/>
          <p:cNvSpPr/>
          <p:nvPr/>
        </p:nvSpPr>
        <p:spPr>
          <a:xfrm>
            <a:off x="1097280" y="4754880"/>
            <a:ext cx="9601200" cy="0"/>
          </a:xfrm>
          <a:prstGeom prst="line">
            <a:avLst/>
          </a:prstGeom>
          <a:noFill/>
          <a:ln w="12700">
            <a:solidFill>
              <a:srgbClr val="D8D1C4"/>
            </a:solidFill>
            <a:prstDash val="solid"/>
          </a:ln>
        </p:spPr>
      </p:sp>
      <p:sp>
        <p:nvSpPr>
          <p:cNvPr id="32" name="Text 30"/>
          <p:cNvSpPr/>
          <p:nvPr/>
        </p:nvSpPr>
        <p:spPr>
          <a:xfrm>
            <a:off x="1115568" y="4974336"/>
            <a:ext cx="822960" cy="146304"/>
          </a:xfrm>
          <a:prstGeom prst="rect">
            <a:avLst/>
          </a:prstGeom>
          <a:noFill/>
          <a:ln/>
        </p:spPr>
        <p:txBody>
          <a:bodyPr wrap="square" lIns="0" tIns="0" rIns="0" bIns="0" rtlCol="0" anchor="ctr"/>
          <a:lstStyle/>
          <a:p>
            <a:pPr indent="0" marL="0">
              <a:buNone/>
            </a:pPr>
            <a:r>
              <a:rPr lang="en-US" sz="850" b="1" dirty="0">
                <a:solidFill>
                  <a:srgbClr val="5C6770"/>
                </a:solidFill>
                <a:latin typeface="Aptos" pitchFamily="34" charset="0"/>
                <a:ea typeface="Aptos" pitchFamily="34" charset="-122"/>
                <a:cs typeface="Aptos" pitchFamily="34" charset="-120"/>
              </a:rPr>
              <a:t>SELLER PROFILE</a:t>
            </a:r>
            <a:endParaRPr lang="en-US" sz="850" dirty="0"/>
          </a:p>
        </p:txBody>
      </p:sp>
      <p:sp>
        <p:nvSpPr>
          <p:cNvPr id="33" name="Text 31"/>
          <p:cNvSpPr/>
          <p:nvPr/>
        </p:nvSpPr>
        <p:spPr>
          <a:xfrm>
            <a:off x="2103120" y="4956048"/>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Casual seller</a:t>
            </a:r>
            <a:endParaRPr lang="en-US" sz="1400" dirty="0"/>
          </a:p>
        </p:txBody>
      </p:sp>
      <p:sp>
        <p:nvSpPr>
          <p:cNvPr id="34" name="Text 32"/>
          <p:cNvSpPr/>
          <p:nvPr/>
        </p:nvSpPr>
        <p:spPr>
          <a:xfrm>
            <a:off x="6547104" y="4956048"/>
            <a:ext cx="3246120" cy="219456"/>
          </a:xfrm>
          <a:prstGeom prst="rect">
            <a:avLst/>
          </a:prstGeom>
          <a:noFill/>
          <a:ln/>
        </p:spPr>
        <p:txBody>
          <a:bodyPr wrap="square" lIns="0" tIns="0" rIns="0" bIns="0" rtlCol="0" anchor="ctr"/>
          <a:lstStyle/>
          <a:p>
            <a:pPr indent="0" marL="0">
              <a:buNone/>
            </a:pPr>
            <a:r>
              <a:rPr lang="en-US" sz="1400" dirty="0">
                <a:solidFill>
                  <a:srgbClr val="1B2A41"/>
                </a:solidFill>
                <a:latin typeface="Aptos" pitchFamily="34" charset="0"/>
                <a:ea typeface="Aptos" pitchFamily="34" charset="-122"/>
                <a:cs typeface="Aptos" pitchFamily="34" charset="-120"/>
              </a:rPr>
              <a:t>Professional seller</a:t>
            </a:r>
            <a:endParaRPr lang="en-US" sz="1400" dirty="0"/>
          </a:p>
        </p:txBody>
      </p:sp>
      <p:sp>
        <p:nvSpPr>
          <p:cNvPr id="35" name="Shape 33"/>
          <p:cNvSpPr/>
          <p:nvPr/>
        </p:nvSpPr>
        <p:spPr>
          <a:xfrm>
            <a:off x="1097280" y="5285232"/>
            <a:ext cx="9601200" cy="0"/>
          </a:xfrm>
          <a:prstGeom prst="line">
            <a:avLst/>
          </a:prstGeom>
          <a:noFill/>
          <a:ln w="12700">
            <a:solidFill>
              <a:srgbClr val="D8D1C4"/>
            </a:solidFill>
            <a:prstDash val="solid"/>
          </a:ln>
        </p:spPr>
      </p:sp>
      <p:sp>
        <p:nvSpPr>
          <p:cNvPr id="36" name="Shape 34"/>
          <p:cNvSpPr/>
          <p:nvPr/>
        </p:nvSpPr>
        <p:spPr>
          <a:xfrm>
            <a:off x="777240" y="5623560"/>
            <a:ext cx="10698480" cy="658368"/>
          </a:xfrm>
          <a:prstGeom prst="roundRect">
            <a:avLst>
              <a:gd name="adj" fmla="val 11111"/>
            </a:avLst>
          </a:prstGeom>
          <a:solidFill>
            <a:srgbClr val="F7E1D9"/>
          </a:solidFill>
          <a:ln w="12700">
            <a:solidFill>
              <a:srgbClr val="F7E1D9">
                <a:alpha val="0"/>
              </a:srgbClr>
            </a:solidFill>
            <a:prstDash val="solid"/>
          </a:ln>
        </p:spPr>
      </p:sp>
      <p:sp>
        <p:nvSpPr>
          <p:cNvPr id="37" name="Text 35"/>
          <p:cNvSpPr/>
          <p:nvPr/>
        </p:nvSpPr>
        <p:spPr>
          <a:xfrm>
            <a:off x="1005840" y="576072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This is essentially a behavioral segmentation model.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11</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CONCLUSION</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What we learned from the project</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project delivered both predictive models and a clearer view of how marketplace behavior is encoded in data.</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4</a:t>
            </a:r>
            <a:endParaRPr lang="en-US" sz="1000" dirty="0"/>
          </a:p>
        </p:txBody>
      </p:sp>
      <p:sp>
        <p:nvSpPr>
          <p:cNvPr id="11" name="Shape 9"/>
          <p:cNvSpPr/>
          <p:nvPr/>
        </p:nvSpPr>
        <p:spPr>
          <a:xfrm>
            <a:off x="896112" y="2194560"/>
            <a:ext cx="2834640" cy="2926080"/>
          </a:xfrm>
          <a:prstGeom prst="roundRect">
            <a:avLst>
              <a:gd name="adj" fmla="val 2581"/>
            </a:avLst>
          </a:prstGeom>
          <a:solidFill>
            <a:srgbClr val="EFE4D0"/>
          </a:solidFill>
          <a:ln w="12700">
            <a:solidFill>
              <a:srgbClr val="EFE4D0">
                <a:alpha val="0"/>
              </a:srgbClr>
            </a:solidFill>
            <a:prstDash val="solid"/>
          </a:ln>
        </p:spPr>
      </p:sp>
      <p:sp>
        <p:nvSpPr>
          <p:cNvPr id="12" name="Text 10"/>
          <p:cNvSpPr/>
          <p:nvPr/>
        </p:nvSpPr>
        <p:spPr>
          <a:xfrm>
            <a:off x="1060704" y="2487168"/>
            <a:ext cx="2487168" cy="457200"/>
          </a:xfrm>
          <a:prstGeom prst="rect">
            <a:avLst/>
          </a:prstGeom>
          <a:noFill/>
          <a:ln/>
        </p:spPr>
        <p:txBody>
          <a:bodyPr wrap="square" lIns="0" tIns="0" rIns="0" bIns="0" rtlCol="0" anchor="ctr"/>
          <a:lstStyle/>
          <a:p>
            <a:pPr algn="ctr" indent="0" marL="0">
              <a:buNone/>
            </a:pPr>
            <a:r>
              <a:rPr lang="en-US" sz="1800" b="1" dirty="0">
                <a:solidFill>
                  <a:srgbClr val="1B2A41"/>
                </a:solidFill>
                <a:latin typeface="Trebuchet MS" pitchFamily="34" charset="0"/>
                <a:ea typeface="Trebuchet MS" pitchFamily="34" charset="-122"/>
                <a:cs typeface="Trebuchet MS" pitchFamily="34" charset="-120"/>
              </a:rPr>
              <a:t>Tree models &gt; linear</a:t>
            </a:r>
            <a:endParaRPr lang="en-US" sz="1800" dirty="0"/>
          </a:p>
        </p:txBody>
      </p:sp>
      <p:sp>
        <p:nvSpPr>
          <p:cNvPr id="13" name="Text 11"/>
          <p:cNvSpPr/>
          <p:nvPr/>
        </p:nvSpPr>
        <p:spPr>
          <a:xfrm>
            <a:off x="1078992" y="3273552"/>
            <a:ext cx="2450592" cy="1234440"/>
          </a:xfrm>
          <a:prstGeom prst="rect">
            <a:avLst/>
          </a:prstGeom>
          <a:noFill/>
          <a:ln/>
        </p:spPr>
        <p:txBody>
          <a:bodyPr wrap="square" lIns="254" tIns="254" rIns="254" bIns="254" rtlCol="0" anchor="ctr"/>
          <a:lstStyle/>
          <a:p>
            <a:pPr algn="ctr" indent="0" marL="0">
              <a:buNone/>
            </a:pPr>
            <a:r>
              <a:rPr lang="en-US" sz="1250" dirty="0">
                <a:solidFill>
                  <a:srgbClr val="1B2A41"/>
                </a:solidFill>
                <a:latin typeface="Aptos" pitchFamily="34" charset="0"/>
                <a:ea typeface="Aptos" pitchFamily="34" charset="-122"/>
                <a:cs typeface="Aptos" pitchFamily="34" charset="-120"/>
              </a:rPr>
              <a:t>Random Forest and Gradient Boosting captured the non-linear marketplace structure better than Logistic Regression.</a:t>
            </a:r>
            <a:endParaRPr lang="en-US" sz="1250" dirty="0"/>
          </a:p>
        </p:txBody>
      </p:sp>
      <p:sp>
        <p:nvSpPr>
          <p:cNvPr id="14" name="Shape 12"/>
          <p:cNvSpPr/>
          <p:nvPr/>
        </p:nvSpPr>
        <p:spPr>
          <a:xfrm>
            <a:off x="4114800" y="2194560"/>
            <a:ext cx="2834640" cy="2926080"/>
          </a:xfrm>
          <a:prstGeom prst="roundRect">
            <a:avLst>
              <a:gd name="adj" fmla="val 2581"/>
            </a:avLst>
          </a:prstGeom>
          <a:solidFill>
            <a:srgbClr val="DCEFE9"/>
          </a:solidFill>
          <a:ln w="12700">
            <a:solidFill>
              <a:srgbClr val="DCEFE9">
                <a:alpha val="0"/>
              </a:srgbClr>
            </a:solidFill>
            <a:prstDash val="solid"/>
          </a:ln>
        </p:spPr>
      </p:sp>
      <p:sp>
        <p:nvSpPr>
          <p:cNvPr id="15" name="Text 13"/>
          <p:cNvSpPr/>
          <p:nvPr/>
        </p:nvSpPr>
        <p:spPr>
          <a:xfrm>
            <a:off x="4279392" y="2487168"/>
            <a:ext cx="2487168" cy="457200"/>
          </a:xfrm>
          <a:prstGeom prst="rect">
            <a:avLst/>
          </a:prstGeom>
          <a:noFill/>
          <a:ln/>
        </p:spPr>
        <p:txBody>
          <a:bodyPr wrap="square" lIns="0" tIns="0" rIns="0" bIns="0" rtlCol="0" anchor="ctr"/>
          <a:lstStyle/>
          <a:p>
            <a:pPr algn="ctr" indent="0" marL="0">
              <a:buNone/>
            </a:pPr>
            <a:r>
              <a:rPr lang="en-US" sz="1800" b="1" dirty="0">
                <a:solidFill>
                  <a:srgbClr val="1B2A41"/>
                </a:solidFill>
                <a:latin typeface="Trebuchet MS" pitchFamily="34" charset="0"/>
                <a:ea typeface="Trebuchet MS" pitchFamily="34" charset="-122"/>
                <a:cs typeface="Trebuchet MS" pitchFamily="34" charset="-120"/>
              </a:rPr>
              <a:t>Feature engineering = key</a:t>
            </a:r>
            <a:endParaRPr lang="en-US" sz="1800" dirty="0"/>
          </a:p>
        </p:txBody>
      </p:sp>
      <p:sp>
        <p:nvSpPr>
          <p:cNvPr id="16" name="Text 14"/>
          <p:cNvSpPr/>
          <p:nvPr/>
        </p:nvSpPr>
        <p:spPr>
          <a:xfrm>
            <a:off x="4297680" y="3273552"/>
            <a:ext cx="2450592" cy="1234440"/>
          </a:xfrm>
          <a:prstGeom prst="rect">
            <a:avLst/>
          </a:prstGeom>
          <a:noFill/>
          <a:ln/>
        </p:spPr>
        <p:txBody>
          <a:bodyPr wrap="square" lIns="254" tIns="254" rIns="254" bIns="254" rtlCol="0" anchor="ctr"/>
          <a:lstStyle/>
          <a:p>
            <a:pPr algn="ctr" indent="0" marL="0">
              <a:buNone/>
            </a:pPr>
            <a:r>
              <a:rPr lang="en-US" sz="1250" dirty="0">
                <a:solidFill>
                  <a:srgbClr val="1B2A41"/>
                </a:solidFill>
                <a:latin typeface="Aptos" pitchFamily="34" charset="0"/>
                <a:ea typeface="Aptos" pitchFamily="34" charset="-122"/>
                <a:cs typeface="Aptos" pitchFamily="34" charset="-120"/>
              </a:rPr>
              <a:t>Performance improved because raw JSON and operational fields were transformed into meaningful behavioral signals.</a:t>
            </a:r>
            <a:endParaRPr lang="en-US" sz="1250" dirty="0"/>
          </a:p>
        </p:txBody>
      </p:sp>
      <p:sp>
        <p:nvSpPr>
          <p:cNvPr id="17" name="Shape 15"/>
          <p:cNvSpPr/>
          <p:nvPr/>
        </p:nvSpPr>
        <p:spPr>
          <a:xfrm>
            <a:off x="7333488" y="2194560"/>
            <a:ext cx="2834640" cy="2926080"/>
          </a:xfrm>
          <a:prstGeom prst="roundRect">
            <a:avLst>
              <a:gd name="adj" fmla="val 2581"/>
            </a:avLst>
          </a:prstGeom>
          <a:solidFill>
            <a:srgbClr val="DCEAF2"/>
          </a:solidFill>
          <a:ln w="12700">
            <a:solidFill>
              <a:srgbClr val="DCEAF2">
                <a:alpha val="0"/>
              </a:srgbClr>
            </a:solidFill>
            <a:prstDash val="solid"/>
          </a:ln>
        </p:spPr>
      </p:sp>
      <p:sp>
        <p:nvSpPr>
          <p:cNvPr id="18" name="Text 16"/>
          <p:cNvSpPr/>
          <p:nvPr/>
        </p:nvSpPr>
        <p:spPr>
          <a:xfrm>
            <a:off x="7498080" y="2487168"/>
            <a:ext cx="2487168" cy="457200"/>
          </a:xfrm>
          <a:prstGeom prst="rect">
            <a:avLst/>
          </a:prstGeom>
          <a:noFill/>
          <a:ln/>
        </p:spPr>
        <p:txBody>
          <a:bodyPr wrap="square" lIns="0" tIns="0" rIns="0" bIns="0" rtlCol="0" anchor="ctr"/>
          <a:lstStyle/>
          <a:p>
            <a:pPr algn="ctr" indent="0" marL="0">
              <a:buNone/>
            </a:pPr>
            <a:r>
              <a:rPr lang="en-US" sz="1800" b="1" dirty="0">
                <a:solidFill>
                  <a:srgbClr val="1B2A41"/>
                </a:solidFill>
                <a:latin typeface="Trebuchet MS" pitchFamily="34" charset="0"/>
                <a:ea typeface="Trebuchet MS" pitchFamily="34" charset="-122"/>
                <a:cs typeface="Trebuchet MS" pitchFamily="34" charset="-120"/>
              </a:rPr>
              <a:t>Behavior &gt; product features</a:t>
            </a:r>
            <a:endParaRPr lang="en-US" sz="1800" dirty="0"/>
          </a:p>
        </p:txBody>
      </p:sp>
      <p:sp>
        <p:nvSpPr>
          <p:cNvPr id="19" name="Text 17"/>
          <p:cNvSpPr/>
          <p:nvPr/>
        </p:nvSpPr>
        <p:spPr>
          <a:xfrm>
            <a:off x="7516368" y="3273552"/>
            <a:ext cx="2450592" cy="1234440"/>
          </a:xfrm>
          <a:prstGeom prst="rect">
            <a:avLst/>
          </a:prstGeom>
          <a:noFill/>
          <a:ln/>
        </p:spPr>
        <p:txBody>
          <a:bodyPr wrap="square" lIns="254" tIns="254" rIns="254" bIns="254" rtlCol="0" anchor="ctr"/>
          <a:lstStyle/>
          <a:p>
            <a:pPr algn="ctr" indent="0" marL="0">
              <a:buNone/>
            </a:pPr>
            <a:r>
              <a:rPr lang="en-US" sz="1250" dirty="0">
                <a:solidFill>
                  <a:srgbClr val="1B2A41"/>
                </a:solidFill>
                <a:latin typeface="Aptos" pitchFamily="34" charset="0"/>
                <a:ea typeface="Aptos" pitchFamily="34" charset="-122"/>
                <a:cs typeface="Aptos" pitchFamily="34" charset="-120"/>
              </a:rPr>
              <a:t>The strongest signals described seller activity and listing strategy more than product condition itself.</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F5C4D"/>
          </a:solidFill>
          <a:ln w="12700">
            <a:solidFill>
              <a:srgbClr val="1F5C4D">
                <a:alpha val="0"/>
              </a:srgbClr>
            </a:solidFill>
            <a:prstDash val="solid"/>
          </a:ln>
        </p:spPr>
      </p:sp>
      <p:sp>
        <p:nvSpPr>
          <p:cNvPr id="3" name="Shape 1"/>
          <p:cNvSpPr/>
          <p:nvPr/>
        </p:nvSpPr>
        <p:spPr>
          <a:xfrm>
            <a:off x="0" y="347472"/>
            <a:ext cx="12188952" cy="54864"/>
          </a:xfrm>
          <a:prstGeom prst="rect">
            <a:avLst/>
          </a:prstGeom>
          <a:solidFill>
            <a:srgbClr val="E76F51"/>
          </a:solidFill>
          <a:ln w="12700">
            <a:solidFill>
              <a:srgbClr val="E76F51">
                <a:alpha val="0"/>
              </a:srgbClr>
            </a:solidFill>
            <a:prstDash val="solid"/>
          </a:ln>
        </p:spPr>
      </p:sp>
      <p:sp>
        <p:nvSpPr>
          <p:cNvPr id="4" name="Shape 2"/>
          <p:cNvSpPr/>
          <p:nvPr/>
        </p:nvSpPr>
        <p:spPr>
          <a:xfrm>
            <a:off x="594360" y="566928"/>
            <a:ext cx="1097280" cy="310896"/>
          </a:xfrm>
          <a:prstGeom prst="roundRect">
            <a:avLst>
              <a:gd name="adj" fmla="val 17647"/>
            </a:avLst>
          </a:prstGeom>
          <a:solidFill>
            <a:srgbClr val="EFE4D0"/>
          </a:solidFill>
          <a:ln w="12700">
            <a:solidFill>
              <a:srgbClr val="EFE4D0">
                <a:alpha val="0"/>
              </a:srgbClr>
            </a:solidFill>
            <a:prstDash val="solid"/>
          </a:ln>
        </p:spPr>
      </p:sp>
      <p:sp>
        <p:nvSpPr>
          <p:cNvPr id="5" name="Text 3"/>
          <p:cNvSpPr/>
          <p:nvPr/>
        </p:nvSpPr>
        <p:spPr>
          <a:xfrm>
            <a:off x="594360" y="608076"/>
            <a:ext cx="1097280" cy="164592"/>
          </a:xfrm>
          <a:prstGeom prst="rect">
            <a:avLst/>
          </a:prstGeom>
          <a:noFill/>
          <a:ln/>
        </p:spPr>
        <p:txBody>
          <a:bodyPr wrap="square" lIns="0" tIns="0" rIns="0" bIns="0" rtlCol="0" anchor="ctr"/>
          <a:lstStyle/>
          <a:p>
            <a:pPr algn="ctr" indent="0" marL="0">
              <a:buNone/>
            </a:pPr>
            <a:r>
              <a:rPr lang="en-US" sz="1100" b="1" dirty="0">
                <a:solidFill>
                  <a:srgbClr val="1F5C4D"/>
                </a:solidFill>
                <a:latin typeface="Trebuchet MS" pitchFamily="34" charset="0"/>
                <a:ea typeface="Trebuchet MS" pitchFamily="34" charset="-122"/>
                <a:cs typeface="Trebuchet MS" pitchFamily="34" charset="-120"/>
              </a:rPr>
              <a:t>12</a:t>
            </a:r>
            <a:endParaRPr lang="en-US" sz="1100" dirty="0"/>
          </a:p>
        </p:txBody>
      </p:sp>
      <p:sp>
        <p:nvSpPr>
          <p:cNvPr id="6" name="Text 4"/>
          <p:cNvSpPr/>
          <p:nvPr/>
        </p:nvSpPr>
        <p:spPr>
          <a:xfrm>
            <a:off x="1874520" y="585216"/>
            <a:ext cx="2926080" cy="182880"/>
          </a:xfrm>
          <a:prstGeom prst="rect">
            <a:avLst/>
          </a:prstGeom>
          <a:noFill/>
          <a:ln/>
        </p:spPr>
        <p:txBody>
          <a:bodyPr wrap="square" lIns="0" tIns="0" rIns="0" bIns="0" rtlCol="0" anchor="ctr"/>
          <a:lstStyle/>
          <a:p>
            <a:pPr indent="0" marL="0">
              <a:buNone/>
            </a:pPr>
            <a:r>
              <a:rPr lang="en-US" sz="1000" b="1" dirty="0">
                <a:solidFill>
                  <a:srgbClr val="E76F51"/>
                </a:solidFill>
                <a:latin typeface="Aptos" pitchFamily="34" charset="0"/>
                <a:ea typeface="Aptos" pitchFamily="34" charset="-122"/>
                <a:cs typeface="Aptos" pitchFamily="34" charset="-120"/>
              </a:rPr>
              <a:t>REFLECTION</a:t>
            </a:r>
            <a:endParaRPr lang="en-US" sz="1000" dirty="0"/>
          </a:p>
        </p:txBody>
      </p:sp>
      <p:sp>
        <p:nvSpPr>
          <p:cNvPr id="7" name="Text 5"/>
          <p:cNvSpPr/>
          <p:nvPr/>
        </p:nvSpPr>
        <p:spPr>
          <a:xfrm>
            <a:off x="594360" y="914400"/>
            <a:ext cx="8046720" cy="658368"/>
          </a:xfrm>
          <a:prstGeom prst="rect">
            <a:avLst/>
          </a:prstGeom>
          <a:noFill/>
          <a:ln/>
        </p:spPr>
        <p:txBody>
          <a:bodyPr wrap="square" lIns="0" tIns="0" rIns="0" bIns="0" rtlCol="0" anchor="ctr"/>
          <a:lstStyle/>
          <a:p>
            <a:pPr indent="0" marL="0">
              <a:buNone/>
            </a:pPr>
            <a:r>
              <a:rPr lang="en-US" sz="2400" b="1" dirty="0">
                <a:solidFill>
                  <a:srgbClr val="1B2A41"/>
                </a:solidFill>
                <a:latin typeface="Trebuchet MS" pitchFamily="34" charset="0"/>
                <a:ea typeface="Trebuchet MS" pitchFamily="34" charset="-122"/>
                <a:cs typeface="Trebuchet MS" pitchFamily="34" charset="-120"/>
              </a:rPr>
              <a:t>Limitations and future work</a:t>
            </a:r>
            <a:endParaRPr lang="en-US" sz="2400" dirty="0"/>
          </a:p>
        </p:txBody>
      </p:sp>
      <p:sp>
        <p:nvSpPr>
          <p:cNvPr id="8" name="Text 6"/>
          <p:cNvSpPr/>
          <p:nvPr/>
        </p:nvSpPr>
        <p:spPr>
          <a:xfrm>
            <a:off x="612648" y="1627632"/>
            <a:ext cx="8138160" cy="347472"/>
          </a:xfrm>
          <a:prstGeom prst="rect">
            <a:avLst/>
          </a:prstGeom>
          <a:noFill/>
          <a:ln/>
        </p:spPr>
        <p:txBody>
          <a:bodyPr wrap="square" lIns="0" tIns="0" rIns="0" bIns="0" rtlCol="0" anchor="ctr"/>
          <a:lstStyle/>
          <a:p>
            <a:pPr indent="0" marL="0">
              <a:buNone/>
            </a:pPr>
            <a:r>
              <a:rPr lang="en-US" sz="1100" dirty="0">
                <a:solidFill>
                  <a:srgbClr val="5C6770"/>
                </a:solidFill>
                <a:latin typeface="Aptos" pitchFamily="34" charset="0"/>
                <a:ea typeface="Aptos" pitchFamily="34" charset="-122"/>
                <a:cs typeface="Aptos" pitchFamily="34" charset="-120"/>
              </a:rPr>
              <a:t>The next step is to combine behavioral signals with richer product representations.</a:t>
            </a:r>
            <a:endParaRPr lang="en-US" sz="1100" dirty="0"/>
          </a:p>
        </p:txBody>
      </p:sp>
      <p:sp>
        <p:nvSpPr>
          <p:cNvPr id="9" name="Shape 7"/>
          <p:cNvSpPr/>
          <p:nvPr/>
        </p:nvSpPr>
        <p:spPr>
          <a:xfrm>
            <a:off x="10561320" y="566928"/>
            <a:ext cx="1051560" cy="310896"/>
          </a:xfrm>
          <a:prstGeom prst="roundRect">
            <a:avLst>
              <a:gd name="adj" fmla="val 17647"/>
            </a:avLst>
          </a:prstGeom>
          <a:solidFill>
            <a:srgbClr val="DCEFE9"/>
          </a:solidFill>
          <a:ln w="12700">
            <a:solidFill>
              <a:srgbClr val="DCEFE9">
                <a:alpha val="0"/>
              </a:srgbClr>
            </a:solidFill>
            <a:prstDash val="solid"/>
          </a:ln>
        </p:spPr>
      </p:sp>
      <p:sp>
        <p:nvSpPr>
          <p:cNvPr id="10" name="Text 8"/>
          <p:cNvSpPr/>
          <p:nvPr/>
        </p:nvSpPr>
        <p:spPr>
          <a:xfrm>
            <a:off x="10561320" y="612648"/>
            <a:ext cx="1051560" cy="164592"/>
          </a:xfrm>
          <a:prstGeom prst="rect">
            <a:avLst/>
          </a:prstGeom>
          <a:noFill/>
          <a:ln/>
        </p:spPr>
        <p:txBody>
          <a:bodyPr wrap="square" lIns="0" tIns="0" rIns="0" bIns="0" rtlCol="0" anchor="ctr"/>
          <a:lstStyle/>
          <a:p>
            <a:pPr algn="ctr" indent="0" marL="0">
              <a:buNone/>
            </a:pPr>
            <a:r>
              <a:rPr lang="en-US" sz="1000" b="1" dirty="0">
                <a:solidFill>
                  <a:srgbClr val="1F5C4D"/>
                </a:solidFill>
                <a:latin typeface="Aptos" pitchFamily="34" charset="0"/>
                <a:ea typeface="Aptos" pitchFamily="34" charset="-122"/>
                <a:cs typeface="Aptos" pitchFamily="34" charset="-120"/>
              </a:rPr>
              <a:t>Person 4</a:t>
            </a:r>
            <a:endParaRPr lang="en-US" sz="1000" dirty="0"/>
          </a:p>
        </p:txBody>
      </p:sp>
      <p:sp>
        <p:nvSpPr>
          <p:cNvPr id="11" name="Shape 9"/>
          <p:cNvSpPr/>
          <p:nvPr/>
        </p:nvSpPr>
        <p:spPr>
          <a:xfrm>
            <a:off x="914400" y="2057400"/>
            <a:ext cx="4754880" cy="2971800"/>
          </a:xfrm>
          <a:prstGeom prst="roundRect">
            <a:avLst>
              <a:gd name="adj" fmla="val 2462"/>
            </a:avLst>
          </a:prstGeom>
          <a:solidFill>
            <a:srgbClr val="FFFFFF"/>
          </a:solidFill>
          <a:ln w="12700">
            <a:solidFill>
              <a:srgbClr val="D8D1C4"/>
            </a:solidFill>
            <a:prstDash val="solid"/>
          </a:ln>
        </p:spPr>
      </p:sp>
      <p:sp>
        <p:nvSpPr>
          <p:cNvPr id="12" name="Text 10"/>
          <p:cNvSpPr/>
          <p:nvPr/>
        </p:nvSpPr>
        <p:spPr>
          <a:xfrm>
            <a:off x="1143000" y="2331720"/>
            <a:ext cx="182880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Limitations</a:t>
            </a:r>
            <a:endParaRPr lang="en-US" sz="1700" dirty="0"/>
          </a:p>
        </p:txBody>
      </p:sp>
      <p:sp>
        <p:nvSpPr>
          <p:cNvPr id="13" name="Shape 11"/>
          <p:cNvSpPr/>
          <p:nvPr/>
        </p:nvSpPr>
        <p:spPr>
          <a:xfrm>
            <a:off x="1143000" y="2843784"/>
            <a:ext cx="100584" cy="100584"/>
          </a:xfrm>
          <a:prstGeom prst="ellipse">
            <a:avLst/>
          </a:prstGeom>
          <a:solidFill>
            <a:srgbClr val="E76F51"/>
          </a:solidFill>
          <a:ln w="12700">
            <a:solidFill>
              <a:srgbClr val="E76F51">
                <a:alpha val="0"/>
              </a:srgbClr>
            </a:solidFill>
            <a:prstDash val="solid"/>
          </a:ln>
        </p:spPr>
      </p:sp>
      <p:sp>
        <p:nvSpPr>
          <p:cNvPr id="14" name="Text 12"/>
          <p:cNvSpPr/>
          <p:nvPr/>
        </p:nvSpPr>
        <p:spPr>
          <a:xfrm>
            <a:off x="1344168" y="274320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No NLP over titles or descriptions.</a:t>
            </a:r>
            <a:endParaRPr lang="en-US" sz="1320" dirty="0"/>
          </a:p>
        </p:txBody>
      </p:sp>
      <p:sp>
        <p:nvSpPr>
          <p:cNvPr id="15" name="Shape 13"/>
          <p:cNvSpPr/>
          <p:nvPr/>
        </p:nvSpPr>
        <p:spPr>
          <a:xfrm>
            <a:off x="1143000" y="3346704"/>
            <a:ext cx="100584" cy="100584"/>
          </a:xfrm>
          <a:prstGeom prst="ellipse">
            <a:avLst/>
          </a:prstGeom>
          <a:solidFill>
            <a:srgbClr val="E76F51"/>
          </a:solidFill>
          <a:ln w="12700">
            <a:solidFill>
              <a:srgbClr val="E76F51">
                <a:alpha val="0"/>
              </a:srgbClr>
            </a:solidFill>
            <a:prstDash val="solid"/>
          </a:ln>
        </p:spPr>
      </p:sp>
      <p:sp>
        <p:nvSpPr>
          <p:cNvPr id="16" name="Text 14"/>
          <p:cNvSpPr/>
          <p:nvPr/>
        </p:nvSpPr>
        <p:spPr>
          <a:xfrm>
            <a:off x="1344168" y="324612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No image or embedding-based product representation.</a:t>
            </a:r>
            <a:endParaRPr lang="en-US" sz="1320" dirty="0"/>
          </a:p>
        </p:txBody>
      </p:sp>
      <p:sp>
        <p:nvSpPr>
          <p:cNvPr id="17" name="Shape 15"/>
          <p:cNvSpPr/>
          <p:nvPr/>
        </p:nvSpPr>
        <p:spPr>
          <a:xfrm>
            <a:off x="1143000" y="3849624"/>
            <a:ext cx="100584" cy="100584"/>
          </a:xfrm>
          <a:prstGeom prst="ellipse">
            <a:avLst/>
          </a:prstGeom>
          <a:solidFill>
            <a:srgbClr val="E76F51"/>
          </a:solidFill>
          <a:ln w="12700">
            <a:solidFill>
              <a:srgbClr val="E76F51">
                <a:alpha val="0"/>
              </a:srgbClr>
            </a:solidFill>
            <a:prstDash val="solid"/>
          </a:ln>
        </p:spPr>
      </p:sp>
      <p:sp>
        <p:nvSpPr>
          <p:cNvPr id="18" name="Text 16"/>
          <p:cNvSpPr/>
          <p:nvPr/>
        </p:nvSpPr>
        <p:spPr>
          <a:xfrm>
            <a:off x="1344168" y="374904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Single marketplace snapshot with limited seller history.</a:t>
            </a:r>
            <a:endParaRPr lang="en-US" sz="1320" dirty="0"/>
          </a:p>
        </p:txBody>
      </p:sp>
      <p:sp>
        <p:nvSpPr>
          <p:cNvPr id="19" name="Shape 17"/>
          <p:cNvSpPr/>
          <p:nvPr/>
        </p:nvSpPr>
        <p:spPr>
          <a:xfrm>
            <a:off x="5989320" y="2057400"/>
            <a:ext cx="4754880" cy="2971800"/>
          </a:xfrm>
          <a:prstGeom prst="roundRect">
            <a:avLst>
              <a:gd name="adj" fmla="val 2462"/>
            </a:avLst>
          </a:prstGeom>
          <a:solidFill>
            <a:srgbClr val="FFFFFF"/>
          </a:solidFill>
          <a:ln w="12700">
            <a:solidFill>
              <a:srgbClr val="D8D1C4"/>
            </a:solidFill>
            <a:prstDash val="solid"/>
          </a:ln>
        </p:spPr>
      </p:sp>
      <p:sp>
        <p:nvSpPr>
          <p:cNvPr id="20" name="Text 18"/>
          <p:cNvSpPr/>
          <p:nvPr/>
        </p:nvSpPr>
        <p:spPr>
          <a:xfrm>
            <a:off x="6217920" y="2331720"/>
            <a:ext cx="2194560" cy="182880"/>
          </a:xfrm>
          <a:prstGeom prst="rect">
            <a:avLst/>
          </a:prstGeom>
          <a:noFill/>
          <a:ln/>
        </p:spPr>
        <p:txBody>
          <a:bodyPr wrap="square" lIns="0" tIns="0" rIns="0" bIns="0" rtlCol="0" anchor="ctr"/>
          <a:lstStyle/>
          <a:p>
            <a:pPr indent="0" marL="0">
              <a:buNone/>
            </a:pPr>
            <a:r>
              <a:rPr lang="en-US" sz="1700" b="1" dirty="0">
                <a:solidFill>
                  <a:srgbClr val="1B2A41"/>
                </a:solidFill>
                <a:latin typeface="Trebuchet MS" pitchFamily="34" charset="0"/>
                <a:ea typeface="Trebuchet MS" pitchFamily="34" charset="-122"/>
                <a:cs typeface="Trebuchet MS" pitchFamily="34" charset="-120"/>
              </a:rPr>
              <a:t>Future directions</a:t>
            </a:r>
            <a:endParaRPr lang="en-US" sz="1700" dirty="0"/>
          </a:p>
        </p:txBody>
      </p:sp>
      <p:sp>
        <p:nvSpPr>
          <p:cNvPr id="21" name="Shape 19"/>
          <p:cNvSpPr/>
          <p:nvPr/>
        </p:nvSpPr>
        <p:spPr>
          <a:xfrm>
            <a:off x="6217920" y="2843784"/>
            <a:ext cx="100584" cy="100584"/>
          </a:xfrm>
          <a:prstGeom prst="ellipse">
            <a:avLst/>
          </a:prstGeom>
          <a:solidFill>
            <a:srgbClr val="1F5C4D"/>
          </a:solidFill>
          <a:ln w="12700">
            <a:solidFill>
              <a:srgbClr val="1F5C4D">
                <a:alpha val="0"/>
              </a:srgbClr>
            </a:solidFill>
            <a:prstDash val="solid"/>
          </a:ln>
        </p:spPr>
      </p:sp>
      <p:sp>
        <p:nvSpPr>
          <p:cNvPr id="22" name="Text 20"/>
          <p:cNvSpPr/>
          <p:nvPr/>
        </p:nvSpPr>
        <p:spPr>
          <a:xfrm>
            <a:off x="6419088" y="274320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Add NLP on titles and descriptions.</a:t>
            </a:r>
            <a:endParaRPr lang="en-US" sz="1320" dirty="0"/>
          </a:p>
        </p:txBody>
      </p:sp>
      <p:sp>
        <p:nvSpPr>
          <p:cNvPr id="23" name="Shape 21"/>
          <p:cNvSpPr/>
          <p:nvPr/>
        </p:nvSpPr>
        <p:spPr>
          <a:xfrm>
            <a:off x="6217920" y="3346704"/>
            <a:ext cx="100584" cy="100584"/>
          </a:xfrm>
          <a:prstGeom prst="ellipse">
            <a:avLst/>
          </a:prstGeom>
          <a:solidFill>
            <a:srgbClr val="1F5C4D"/>
          </a:solidFill>
          <a:ln w="12700">
            <a:solidFill>
              <a:srgbClr val="1F5C4D">
                <a:alpha val="0"/>
              </a:srgbClr>
            </a:solidFill>
            <a:prstDash val="solid"/>
          </a:ln>
        </p:spPr>
      </p:sp>
      <p:sp>
        <p:nvSpPr>
          <p:cNvPr id="24" name="Text 22"/>
          <p:cNvSpPr/>
          <p:nvPr/>
        </p:nvSpPr>
        <p:spPr>
          <a:xfrm>
            <a:off x="6419088" y="324612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Use embeddings to capture product similarity.</a:t>
            </a:r>
            <a:endParaRPr lang="en-US" sz="1320" dirty="0"/>
          </a:p>
        </p:txBody>
      </p:sp>
      <p:sp>
        <p:nvSpPr>
          <p:cNvPr id="25" name="Shape 23"/>
          <p:cNvSpPr/>
          <p:nvPr/>
        </p:nvSpPr>
        <p:spPr>
          <a:xfrm>
            <a:off x="6217920" y="3849624"/>
            <a:ext cx="100584" cy="100584"/>
          </a:xfrm>
          <a:prstGeom prst="ellipse">
            <a:avLst/>
          </a:prstGeom>
          <a:solidFill>
            <a:srgbClr val="1F5C4D"/>
          </a:solidFill>
          <a:ln w="12700">
            <a:solidFill>
              <a:srgbClr val="1F5C4D">
                <a:alpha val="0"/>
              </a:srgbClr>
            </a:solidFill>
            <a:prstDash val="solid"/>
          </a:ln>
        </p:spPr>
      </p:sp>
      <p:sp>
        <p:nvSpPr>
          <p:cNvPr id="26" name="Text 24"/>
          <p:cNvSpPr/>
          <p:nvPr/>
        </p:nvSpPr>
        <p:spPr>
          <a:xfrm>
            <a:off x="6419088" y="3749040"/>
            <a:ext cx="3611880" cy="292608"/>
          </a:xfrm>
          <a:prstGeom prst="rect">
            <a:avLst/>
          </a:prstGeom>
          <a:noFill/>
          <a:ln/>
        </p:spPr>
        <p:txBody>
          <a:bodyPr wrap="square" lIns="0" tIns="0" rIns="0" bIns="0" rtlCol="0" anchor="ctr"/>
          <a:lstStyle/>
          <a:p>
            <a:pPr indent="0" marL="0">
              <a:buNone/>
            </a:pPr>
            <a:r>
              <a:rPr lang="en-US" sz="1320" dirty="0">
                <a:solidFill>
                  <a:srgbClr val="1B2A41"/>
                </a:solidFill>
                <a:latin typeface="Aptos" pitchFamily="34" charset="0"/>
                <a:ea typeface="Aptos" pitchFamily="34" charset="-122"/>
                <a:cs typeface="Aptos" pitchFamily="34" charset="-120"/>
              </a:rPr>
              <a:t>Integrate richer seller behavior and temporal history.</a:t>
            </a:r>
            <a:endParaRPr lang="en-US" sz="1320" dirty="0"/>
          </a:p>
        </p:txBody>
      </p:sp>
      <p:sp>
        <p:nvSpPr>
          <p:cNvPr id="27" name="Shape 25"/>
          <p:cNvSpPr/>
          <p:nvPr/>
        </p:nvSpPr>
        <p:spPr>
          <a:xfrm>
            <a:off x="777240" y="5532120"/>
            <a:ext cx="10698480" cy="658368"/>
          </a:xfrm>
          <a:prstGeom prst="roundRect">
            <a:avLst>
              <a:gd name="adj" fmla="val 11111"/>
            </a:avLst>
          </a:prstGeom>
          <a:solidFill>
            <a:srgbClr val="F7E1D9"/>
          </a:solidFill>
          <a:ln w="12700">
            <a:solidFill>
              <a:srgbClr val="F7E1D9">
                <a:alpha val="0"/>
              </a:srgbClr>
            </a:solidFill>
            <a:prstDash val="solid"/>
          </a:ln>
        </p:spPr>
      </p:sp>
      <p:sp>
        <p:nvSpPr>
          <p:cNvPr id="28" name="Text 26"/>
          <p:cNvSpPr/>
          <p:nvPr/>
        </p:nvSpPr>
        <p:spPr>
          <a:xfrm>
            <a:off x="1005840" y="5669280"/>
            <a:ext cx="10241280" cy="320040"/>
          </a:xfrm>
          <a:prstGeom prst="rect">
            <a:avLst/>
          </a:prstGeom>
          <a:noFill/>
          <a:ln/>
        </p:spPr>
        <p:txBody>
          <a:bodyPr wrap="square" lIns="0" tIns="0" rIns="0" bIns="0" rtlCol="0" anchor="ctr"/>
          <a:lstStyle/>
          <a:p>
            <a:pPr algn="ctr" indent="0" marL="0">
              <a:buNone/>
            </a:pPr>
            <a:r>
              <a:rPr lang="en-US" sz="1500" i="1" dirty="0">
                <a:solidFill>
                  <a:srgbClr val="1B2A41"/>
                </a:solidFill>
                <a:latin typeface="Georgia" pitchFamily="34" charset="0"/>
                <a:ea typeface="Georgia" pitchFamily="34" charset="-122"/>
                <a:cs typeface="Georgia"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Marketplace Dynamics: Price Prediction and Condition Classification</dc:title>
  <dc:subject>Mercado Libre final project presentation</dc:subject>
  <dc:creator>Codex</dc:creator>
  <cp:lastModifiedBy>Codex</cp:lastModifiedBy>
  <cp:revision>1</cp:revision>
  <dcterms:created xsi:type="dcterms:W3CDTF">2026-03-17T01:22:13Z</dcterms:created>
  <dcterms:modified xsi:type="dcterms:W3CDTF">2026-03-17T01:22:13Z</dcterms:modified>
</cp:coreProperties>
</file>